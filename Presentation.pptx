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70" r:id="rId14"/>
    <p:sldId id="271" r:id="rId15"/>
    <p:sldId id="272" r:id="rId16"/>
    <p:sldId id="265" r:id="rId17"/>
    <p:sldId id="267" r:id="rId18"/>
  </p:sldIdLst>
  <p:sldSz cx="12192000" cy="6858000"/>
  <p:notesSz cx="6858000" cy="12192000"/>
  <p:embeddedFontLst>
    <p:embeddedFont>
      <p:font typeface="微软雅黑" panose="020B0503020204020204" pitchFamily="34" charset="-122"/>
      <p:regular r:id="rId20"/>
      <p:bold r:id="rId21"/>
    </p:embeddedFont>
    <p:embeddedFont>
      <p:font typeface="MiSans" panose="020B0604020202020204" charset="-122"/>
      <p:regular r:id="rId22"/>
    </p:embeddedFont>
    <p:embeddedFont>
      <p:font typeface="Liter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6F309-1532-49BD-ABE5-D81CEA4CA2AD}" v="6" dt="2026-02-20T10:49:30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a Gajendragad" userId="ca58cf188fcbde59" providerId="LiveId" clId="{37ABC5A4-1034-4CC1-8C50-41C17F055E96}"/>
    <pc:docChg chg="undo custSel addSld modSld">
      <pc:chgData name="Rakshita Gajendragad" userId="ca58cf188fcbde59" providerId="LiveId" clId="{37ABC5A4-1034-4CC1-8C50-41C17F055E96}" dt="2026-02-20T10:57:05.043" v="494" actId="207"/>
      <pc:docMkLst>
        <pc:docMk/>
      </pc:docMkLst>
      <pc:sldChg chg="addSp modSp mod">
        <pc:chgData name="Rakshita Gajendragad" userId="ca58cf188fcbde59" providerId="LiveId" clId="{37ABC5A4-1034-4CC1-8C50-41C17F055E96}" dt="2026-02-20T10:57:05.043" v="494" actId="207"/>
        <pc:sldMkLst>
          <pc:docMk/>
          <pc:sldMk cId="0" sldId="256"/>
        </pc:sldMkLst>
        <pc:spChg chg="mod">
          <ac:chgData name="Rakshita Gajendragad" userId="ca58cf188fcbde59" providerId="LiveId" clId="{37ABC5A4-1034-4CC1-8C50-41C17F055E96}" dt="2026-02-19T19:33:49.808" v="58" actId="10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kshita Gajendragad" userId="ca58cf188fcbde59" providerId="LiveId" clId="{37ABC5A4-1034-4CC1-8C50-41C17F055E96}" dt="2026-02-19T19:32:35.997" v="14" actId="20577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Rakshita Gajendragad" userId="ca58cf188fcbde59" providerId="LiveId" clId="{37ABC5A4-1034-4CC1-8C50-41C17F055E96}" dt="2026-02-20T10:57:05.043" v="494" actId="207"/>
          <ac:spMkLst>
            <pc:docMk/>
            <pc:sldMk cId="0" sldId="256"/>
            <ac:spMk id="11" creationId="{189BB7AD-8657-3EC8-E241-D260CC6A710D}"/>
          </ac:spMkLst>
        </pc:spChg>
      </pc:sldChg>
      <pc:sldChg chg="addSp delSp modSp mod">
        <pc:chgData name="Rakshita Gajendragad" userId="ca58cf188fcbde59" providerId="LiveId" clId="{37ABC5A4-1034-4CC1-8C50-41C17F055E96}" dt="2026-02-20T10:52:24.626" v="481" actId="1076"/>
        <pc:sldMkLst>
          <pc:docMk/>
          <pc:sldMk cId="0" sldId="258"/>
        </pc:sldMkLst>
        <pc:spChg chg="del">
          <ac:chgData name="Rakshita Gajendragad" userId="ca58cf188fcbde59" providerId="LiveId" clId="{37ABC5A4-1034-4CC1-8C50-41C17F055E96}" dt="2026-02-20T10:24:42.656" v="60" actId="478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Rakshita Gajendragad" userId="ca58cf188fcbde59" providerId="LiveId" clId="{37ABC5A4-1034-4CC1-8C50-41C17F055E96}" dt="2026-02-20T10:25:56.239" v="77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56.239" v="77" actId="478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Rakshita Gajendragad" userId="ca58cf188fcbde59" providerId="LiveId" clId="{37ABC5A4-1034-4CC1-8C50-41C17F055E96}" dt="2026-02-20T10:25:56.239" v="77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07.005" v="65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56.239" v="77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29.909" v="73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26.960" v="72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13.875" v="67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10.169" v="66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24.853" v="71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16.131" v="68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20.290" v="70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17.971" v="69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45.234" v="76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59.620" v="78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56.239" v="77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56.239" v="77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2.629" v="74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Rakshita Gajendragad" userId="ca58cf188fcbde59" providerId="LiveId" clId="{37ABC5A4-1034-4CC1-8C50-41C17F055E96}" dt="2026-02-20T10:25:39.511" v="75" actId="478"/>
          <ac:spMkLst>
            <pc:docMk/>
            <pc:sldMk cId="0" sldId="258"/>
            <ac:spMk id="35" creationId="{00000000-0000-0000-0000-000000000000}"/>
          </ac:spMkLst>
        </pc:spChg>
        <pc:spChg chg="add mod">
          <ac:chgData name="Rakshita Gajendragad" userId="ca58cf188fcbde59" providerId="LiveId" clId="{37ABC5A4-1034-4CC1-8C50-41C17F055E96}" dt="2026-02-20T10:52:14.887" v="480" actId="1076"/>
          <ac:spMkLst>
            <pc:docMk/>
            <pc:sldMk cId="0" sldId="258"/>
            <ac:spMk id="37" creationId="{9FD34EEC-1C7B-45F5-7A66-A64161D5DDE1}"/>
          </ac:spMkLst>
        </pc:spChg>
        <pc:spChg chg="add mod">
          <ac:chgData name="Rakshita Gajendragad" userId="ca58cf188fcbde59" providerId="LiveId" clId="{37ABC5A4-1034-4CC1-8C50-41C17F055E96}" dt="2026-02-20T10:52:24.626" v="481" actId="1076"/>
          <ac:spMkLst>
            <pc:docMk/>
            <pc:sldMk cId="0" sldId="258"/>
            <ac:spMk id="44" creationId="{873832B7-0299-F60F-E4AB-DC9A3DC29086}"/>
          </ac:spMkLst>
        </pc:spChg>
        <pc:spChg chg="add mod">
          <ac:chgData name="Rakshita Gajendragad" userId="ca58cf188fcbde59" providerId="LiveId" clId="{37ABC5A4-1034-4CC1-8C50-41C17F055E96}" dt="2026-02-20T10:48:44.972" v="396" actId="1076"/>
          <ac:spMkLst>
            <pc:docMk/>
            <pc:sldMk cId="0" sldId="258"/>
            <ac:spMk id="46" creationId="{69F84F2E-9EFA-EF0E-4669-413BE4DD99FE}"/>
          </ac:spMkLst>
        </pc:spChg>
        <pc:spChg chg="add mod">
          <ac:chgData name="Rakshita Gajendragad" userId="ca58cf188fcbde59" providerId="LiveId" clId="{37ABC5A4-1034-4CC1-8C50-41C17F055E96}" dt="2026-02-20T10:52:06.591" v="479" actId="1076"/>
          <ac:spMkLst>
            <pc:docMk/>
            <pc:sldMk cId="0" sldId="258"/>
            <ac:spMk id="47" creationId="{694FCC82-57D5-CC84-891F-47ED53623073}"/>
          </ac:spMkLst>
        </pc:spChg>
        <pc:picChg chg="del">
          <ac:chgData name="Rakshita Gajendragad" userId="ca58cf188fcbde59" providerId="LiveId" clId="{37ABC5A4-1034-4CC1-8C50-41C17F055E96}" dt="2026-02-20T10:24:39.875" v="59" actId="478"/>
          <ac:picMkLst>
            <pc:docMk/>
            <pc:sldMk cId="0" sldId="258"/>
            <ac:picMk id="7" creationId="{00000000-0000-0000-0000-000000000000}"/>
          </ac:picMkLst>
        </pc:picChg>
        <pc:picChg chg="del">
          <ac:chgData name="Rakshita Gajendragad" userId="ca58cf188fcbde59" providerId="LiveId" clId="{37ABC5A4-1034-4CC1-8C50-41C17F055E96}" dt="2026-02-20T10:24:49.770" v="63" actId="478"/>
          <ac:picMkLst>
            <pc:docMk/>
            <pc:sldMk cId="0" sldId="258"/>
            <ac:picMk id="10" creationId="{00000000-0000-0000-0000-000000000000}"/>
          </ac:picMkLst>
        </pc:picChg>
        <pc:picChg chg="add mod">
          <ac:chgData name="Rakshita Gajendragad" userId="ca58cf188fcbde59" providerId="LiveId" clId="{37ABC5A4-1034-4CC1-8C50-41C17F055E96}" dt="2026-02-20T10:48:48.027" v="397" actId="1076"/>
          <ac:picMkLst>
            <pc:docMk/>
            <pc:sldMk cId="0" sldId="258"/>
            <ac:picMk id="39" creationId="{1CA202CF-0305-0387-D66F-08540A2E2628}"/>
          </ac:picMkLst>
        </pc:picChg>
        <pc:picChg chg="add del">
          <ac:chgData name="Rakshita Gajendragad" userId="ca58cf188fcbde59" providerId="LiveId" clId="{37ABC5A4-1034-4CC1-8C50-41C17F055E96}" dt="2026-02-20T10:29:13.216" v="105" actId="478"/>
          <ac:picMkLst>
            <pc:docMk/>
            <pc:sldMk cId="0" sldId="258"/>
            <ac:picMk id="41" creationId="{ADE1281E-40E6-A812-64E8-7DF43EA9DE13}"/>
          </ac:picMkLst>
        </pc:picChg>
        <pc:picChg chg="add mod modCrop">
          <ac:chgData name="Rakshita Gajendragad" userId="ca58cf188fcbde59" providerId="LiveId" clId="{37ABC5A4-1034-4CC1-8C50-41C17F055E96}" dt="2026-02-20T10:48:56.859" v="399" actId="1076"/>
          <ac:picMkLst>
            <pc:docMk/>
            <pc:sldMk cId="0" sldId="258"/>
            <ac:picMk id="43" creationId="{689A2680-1A95-A8E3-39E6-66E6631A6935}"/>
          </ac:picMkLst>
        </pc:picChg>
        <pc:picChg chg="add del">
          <ac:chgData name="Rakshita Gajendragad" userId="ca58cf188fcbde59" providerId="LiveId" clId="{37ABC5A4-1034-4CC1-8C50-41C17F055E96}" dt="2026-02-20T10:49:56.050" v="441" actId="22"/>
          <ac:picMkLst>
            <pc:docMk/>
            <pc:sldMk cId="0" sldId="258"/>
            <ac:picMk id="49" creationId="{EDDD5A74-0F74-DF52-5E40-F5C84BA0107B}"/>
          </ac:picMkLst>
        </pc:picChg>
      </pc:sldChg>
      <pc:sldChg chg="addSp delSp modSp new mod">
        <pc:chgData name="Rakshita Gajendragad" userId="ca58cf188fcbde59" providerId="LiveId" clId="{37ABC5A4-1034-4CC1-8C50-41C17F055E96}" dt="2026-02-20T10:44:20.368" v="382" actId="20577"/>
        <pc:sldMkLst>
          <pc:docMk/>
          <pc:sldMk cId="2643237648" sldId="273"/>
        </pc:sldMkLst>
        <pc:spChg chg="add del">
          <ac:chgData name="Rakshita Gajendragad" userId="ca58cf188fcbde59" providerId="LiveId" clId="{37ABC5A4-1034-4CC1-8C50-41C17F055E96}" dt="2026-02-20T10:36:27.482" v="174" actId="22"/>
          <ac:spMkLst>
            <pc:docMk/>
            <pc:sldMk cId="2643237648" sldId="273"/>
            <ac:spMk id="3" creationId="{489A43F8-BA0C-4A1C-9C24-E07F23CC8704}"/>
          </ac:spMkLst>
        </pc:spChg>
        <pc:spChg chg="add del mod">
          <ac:chgData name="Rakshita Gajendragad" userId="ca58cf188fcbde59" providerId="LiveId" clId="{37ABC5A4-1034-4CC1-8C50-41C17F055E96}" dt="2026-02-20T10:37:17.579" v="183"/>
          <ac:spMkLst>
            <pc:docMk/>
            <pc:sldMk cId="2643237648" sldId="273"/>
            <ac:spMk id="5" creationId="{697DD37A-D6E5-9A69-FEDB-E21BDA40DC1E}"/>
          </ac:spMkLst>
        </pc:spChg>
        <pc:spChg chg="add mod">
          <ac:chgData name="Rakshita Gajendragad" userId="ca58cf188fcbde59" providerId="LiveId" clId="{37ABC5A4-1034-4CC1-8C50-41C17F055E96}" dt="2026-02-20T10:40:01.235" v="239" actId="1076"/>
          <ac:spMkLst>
            <pc:docMk/>
            <pc:sldMk cId="2643237648" sldId="273"/>
            <ac:spMk id="10" creationId="{3BF493A1-1AAE-9F2F-162E-AED0E2EAF60F}"/>
          </ac:spMkLst>
        </pc:spChg>
        <pc:spChg chg="add mod">
          <ac:chgData name="Rakshita Gajendragad" userId="ca58cf188fcbde59" providerId="LiveId" clId="{37ABC5A4-1034-4CC1-8C50-41C17F055E96}" dt="2026-02-20T10:42:57.117" v="292" actId="1076"/>
          <ac:spMkLst>
            <pc:docMk/>
            <pc:sldMk cId="2643237648" sldId="273"/>
            <ac:spMk id="12" creationId="{B32462F1-D3ED-6B6F-6855-0A797AEA702E}"/>
          </ac:spMkLst>
        </pc:spChg>
        <pc:spChg chg="add mod">
          <ac:chgData name="Rakshita Gajendragad" userId="ca58cf188fcbde59" providerId="LiveId" clId="{37ABC5A4-1034-4CC1-8C50-41C17F055E96}" dt="2026-02-20T10:44:20.368" v="382" actId="20577"/>
          <ac:spMkLst>
            <pc:docMk/>
            <pc:sldMk cId="2643237648" sldId="273"/>
            <ac:spMk id="13" creationId="{CBA9C229-616D-9368-68BA-1FBD2A933798}"/>
          </ac:spMkLst>
        </pc:spChg>
        <pc:picChg chg="add mod">
          <ac:chgData name="Rakshita Gajendragad" userId="ca58cf188fcbde59" providerId="LiveId" clId="{37ABC5A4-1034-4CC1-8C50-41C17F055E96}" dt="2026-02-20T10:38:24.160" v="188" actId="14100"/>
          <ac:picMkLst>
            <pc:docMk/>
            <pc:sldMk cId="2643237648" sldId="273"/>
            <ac:picMk id="7" creationId="{5B829EC4-9939-65B9-32F9-DD16A44EBCF7}"/>
          </ac:picMkLst>
        </pc:picChg>
        <pc:picChg chg="add mod">
          <ac:chgData name="Rakshita Gajendragad" userId="ca58cf188fcbde59" providerId="LiveId" clId="{37ABC5A4-1034-4CC1-8C50-41C17F055E96}" dt="2026-02-20T10:38:54.386" v="194" actId="14100"/>
          <ac:picMkLst>
            <pc:docMk/>
            <pc:sldMk cId="2643237648" sldId="273"/>
            <ac:picMk id="9" creationId="{70C167F0-34C4-A683-1F42-9C66FF3F62DE}"/>
          </ac:picMkLst>
        </pc:picChg>
      </pc:sldChg>
      <pc:sldChg chg="addSp modSp new mod">
        <pc:chgData name="Rakshita Gajendragad" userId="ca58cf188fcbde59" providerId="LiveId" clId="{37ABC5A4-1034-4CC1-8C50-41C17F055E96}" dt="2026-02-20T10:55:42.554" v="491" actId="14100"/>
        <pc:sldMkLst>
          <pc:docMk/>
          <pc:sldMk cId="30748180" sldId="274"/>
        </pc:sldMkLst>
        <pc:spChg chg="add mod">
          <ac:chgData name="Rakshita Gajendragad" userId="ca58cf188fcbde59" providerId="LiveId" clId="{37ABC5A4-1034-4CC1-8C50-41C17F055E96}" dt="2026-02-20T10:55:35.309" v="490" actId="1076"/>
          <ac:spMkLst>
            <pc:docMk/>
            <pc:sldMk cId="30748180" sldId="274"/>
            <ac:spMk id="7" creationId="{8E5F3299-C35B-4AF5-9178-08753042C2D6}"/>
          </ac:spMkLst>
        </pc:spChg>
        <pc:spChg chg="add mod">
          <ac:chgData name="Rakshita Gajendragad" userId="ca58cf188fcbde59" providerId="LiveId" clId="{37ABC5A4-1034-4CC1-8C50-41C17F055E96}" dt="2026-02-20T10:55:42.554" v="491" actId="14100"/>
          <ac:spMkLst>
            <pc:docMk/>
            <pc:sldMk cId="30748180" sldId="274"/>
            <ac:spMk id="9" creationId="{528B992A-AD72-514F-A7BD-B19F2BCA075C}"/>
          </ac:spMkLst>
        </pc:spChg>
        <pc:picChg chg="add mod">
          <ac:chgData name="Rakshita Gajendragad" userId="ca58cf188fcbde59" providerId="LiveId" clId="{37ABC5A4-1034-4CC1-8C50-41C17F055E96}" dt="2026-02-20T10:47:03.005" v="393" actId="14100"/>
          <ac:picMkLst>
            <pc:docMk/>
            <pc:sldMk cId="30748180" sldId="274"/>
            <ac:picMk id="3" creationId="{6D9D31E7-CFCE-2C0E-04CE-3B238D309390}"/>
          </ac:picMkLst>
        </pc:picChg>
        <pc:picChg chg="add mod">
          <ac:chgData name="Rakshita Gajendragad" userId="ca58cf188fcbde59" providerId="LiveId" clId="{37ABC5A4-1034-4CC1-8C50-41C17F055E96}" dt="2026-02-20T10:47:21.796" v="395" actId="14100"/>
          <ac:picMkLst>
            <pc:docMk/>
            <pc:sldMk cId="30748180" sldId="274"/>
            <ac:picMk id="5" creationId="{FA07BA93-D8AF-75A1-3708-D673ABC490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30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gu7t4xhhkfljq/charts/cluster_scatter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6036" b="603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715" y="933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3A5F">
                  <a:alpha val="95000"/>
                </a:srgbClr>
              </a:gs>
              <a:gs pos="100000">
                <a:srgbClr val="10B981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810250" y="1452563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133945" y="62508"/>
                </a:moveTo>
                <a:cubicBezTo>
                  <a:pt x="133945" y="28017"/>
                  <a:pt x="161962" y="0"/>
                  <a:pt x="196453" y="0"/>
                </a:cubicBezTo>
                <a:lnTo>
                  <a:pt x="223242" y="0"/>
                </a:lnTo>
                <a:cubicBezTo>
                  <a:pt x="242999" y="0"/>
                  <a:pt x="258961" y="15962"/>
                  <a:pt x="258961" y="35719"/>
                </a:cubicBezTo>
                <a:lnTo>
                  <a:pt x="258961" y="535781"/>
                </a:lnTo>
                <a:cubicBezTo>
                  <a:pt x="258961" y="555538"/>
                  <a:pt x="242999" y="571500"/>
                  <a:pt x="223242" y="571500"/>
                </a:cubicBezTo>
                <a:lnTo>
                  <a:pt x="187523" y="571500"/>
                </a:lnTo>
                <a:cubicBezTo>
                  <a:pt x="154260" y="571500"/>
                  <a:pt x="126243" y="548729"/>
                  <a:pt x="118318" y="517922"/>
                </a:cubicBezTo>
                <a:cubicBezTo>
                  <a:pt x="117537" y="517922"/>
                  <a:pt x="116867" y="517922"/>
                  <a:pt x="116086" y="517922"/>
                </a:cubicBezTo>
                <a:cubicBezTo>
                  <a:pt x="66749" y="517922"/>
                  <a:pt x="26789" y="477962"/>
                  <a:pt x="26789" y="428625"/>
                </a:cubicBezTo>
                <a:cubicBezTo>
                  <a:pt x="26789" y="408533"/>
                  <a:pt x="33486" y="390004"/>
                  <a:pt x="44648" y="375047"/>
                </a:cubicBezTo>
                <a:cubicBezTo>
                  <a:pt x="22994" y="358750"/>
                  <a:pt x="8930" y="332854"/>
                  <a:pt x="8930" y="303609"/>
                </a:cubicBezTo>
                <a:cubicBezTo>
                  <a:pt x="8930" y="269118"/>
                  <a:pt x="28575" y="239092"/>
                  <a:pt x="57150" y="224247"/>
                </a:cubicBezTo>
                <a:cubicBezTo>
                  <a:pt x="49225" y="210852"/>
                  <a:pt x="44648" y="195225"/>
                  <a:pt x="44648" y="178594"/>
                </a:cubicBezTo>
                <a:cubicBezTo>
                  <a:pt x="44648" y="129257"/>
                  <a:pt x="84609" y="89297"/>
                  <a:pt x="133945" y="89297"/>
                </a:cubicBezTo>
                <a:lnTo>
                  <a:pt x="133945" y="62508"/>
                </a:lnTo>
                <a:close/>
                <a:moveTo>
                  <a:pt x="437555" y="62508"/>
                </a:moveTo>
                <a:lnTo>
                  <a:pt x="437555" y="89297"/>
                </a:lnTo>
                <a:cubicBezTo>
                  <a:pt x="486891" y="89297"/>
                  <a:pt x="526852" y="129257"/>
                  <a:pt x="526852" y="178594"/>
                </a:cubicBezTo>
                <a:cubicBezTo>
                  <a:pt x="526852" y="195337"/>
                  <a:pt x="522275" y="210964"/>
                  <a:pt x="514350" y="224247"/>
                </a:cubicBezTo>
                <a:cubicBezTo>
                  <a:pt x="543037" y="239092"/>
                  <a:pt x="562570" y="269007"/>
                  <a:pt x="562570" y="303609"/>
                </a:cubicBezTo>
                <a:cubicBezTo>
                  <a:pt x="562570" y="332854"/>
                  <a:pt x="548506" y="358750"/>
                  <a:pt x="526852" y="375047"/>
                </a:cubicBezTo>
                <a:cubicBezTo>
                  <a:pt x="538014" y="390004"/>
                  <a:pt x="544711" y="408533"/>
                  <a:pt x="544711" y="428625"/>
                </a:cubicBezTo>
                <a:cubicBezTo>
                  <a:pt x="544711" y="477962"/>
                  <a:pt x="504751" y="517922"/>
                  <a:pt x="455414" y="517922"/>
                </a:cubicBezTo>
                <a:cubicBezTo>
                  <a:pt x="454633" y="517922"/>
                  <a:pt x="453963" y="517922"/>
                  <a:pt x="453182" y="517922"/>
                </a:cubicBezTo>
                <a:cubicBezTo>
                  <a:pt x="445257" y="548729"/>
                  <a:pt x="417240" y="571500"/>
                  <a:pt x="383977" y="571500"/>
                </a:cubicBezTo>
                <a:lnTo>
                  <a:pt x="348258" y="571500"/>
                </a:lnTo>
                <a:cubicBezTo>
                  <a:pt x="328501" y="571500"/>
                  <a:pt x="312539" y="555538"/>
                  <a:pt x="312539" y="535781"/>
                </a:cubicBezTo>
                <a:lnTo>
                  <a:pt x="312539" y="35719"/>
                </a:lnTo>
                <a:cubicBezTo>
                  <a:pt x="312539" y="15962"/>
                  <a:pt x="328501" y="0"/>
                  <a:pt x="348258" y="0"/>
                </a:cubicBezTo>
                <a:lnTo>
                  <a:pt x="375047" y="0"/>
                </a:lnTo>
                <a:cubicBezTo>
                  <a:pt x="409538" y="0"/>
                  <a:pt x="437555" y="28017"/>
                  <a:pt x="437555" y="6250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2129195" y="2405063"/>
            <a:ext cx="79343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Personality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45193" y="3348038"/>
            <a:ext cx="5305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Market Segmentation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4033837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3137773" y="4376738"/>
            <a:ext cx="5915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Raw Data into Actionable Customer Insights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67634" y="518624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4895056" y="5138618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2,236 Customers Analyzed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BB7AD-8657-3EC8-E241-D260CC6A710D}"/>
              </a:ext>
            </a:extLst>
          </p:cNvPr>
          <p:cNvSpPr txBox="1"/>
          <p:nvPr/>
        </p:nvSpPr>
        <p:spPr>
          <a:xfrm>
            <a:off x="9321282" y="5896946"/>
            <a:ext cx="2481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  <a:latin typeface="Liter" panose="020B0604020202020204" charset="0"/>
              </a:rPr>
              <a:t>Presented by: Group-3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Business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43550" cy="4000500"/>
          </a:xfrm>
          <a:custGeom>
            <a:avLst/>
            <a:gdLst/>
            <a:ahLst/>
            <a:cxnLst/>
            <a:rect l="l" t="t" r="r" b="b"/>
            <a:pathLst>
              <a:path w="5543550" h="4000500">
                <a:moveTo>
                  <a:pt x="38100" y="0"/>
                </a:moveTo>
                <a:lnTo>
                  <a:pt x="5391131" y="0"/>
                </a:lnTo>
                <a:cubicBezTo>
                  <a:pt x="5475310" y="0"/>
                  <a:pt x="5543550" y="68240"/>
                  <a:pt x="5543550" y="152419"/>
                </a:cubicBezTo>
                <a:lnTo>
                  <a:pt x="5543550" y="3848081"/>
                </a:lnTo>
                <a:cubicBezTo>
                  <a:pt x="5543550" y="3932260"/>
                  <a:pt x="5475310" y="4000500"/>
                  <a:pt x="5391131" y="4000500"/>
                </a:cubicBezTo>
                <a:lnTo>
                  <a:pt x="38100" y="4000500"/>
                </a:lnTo>
                <a:cubicBezTo>
                  <a:pt x="17058" y="4000500"/>
                  <a:pt x="0" y="3983442"/>
                  <a:pt x="0" y="396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4000500"/>
          </a:xfrm>
          <a:custGeom>
            <a:avLst/>
            <a:gdLst/>
            <a:ahLst/>
            <a:cxnLst/>
            <a:rect l="l" t="t" r="r" b="b"/>
            <a:pathLst>
              <a:path w="38100" h="4000500">
                <a:moveTo>
                  <a:pt x="38100" y="0"/>
                </a:moveTo>
                <a:lnTo>
                  <a:pt x="38100" y="0"/>
                </a:lnTo>
                <a:lnTo>
                  <a:pt x="38100" y="4000500"/>
                </a:lnTo>
                <a:lnTo>
                  <a:pt x="38100" y="4000500"/>
                </a:lnTo>
                <a:cubicBezTo>
                  <a:pt x="17072" y="4000500"/>
                  <a:pt x="0" y="3983428"/>
                  <a:pt x="0" y="396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EE2E2"/>
          </a:solidFill>
          <a:ln/>
        </p:spPr>
      </p:sp>
      <p:sp>
        <p:nvSpPr>
          <p:cNvPr id="7" name="Shape 5"/>
          <p:cNvSpPr/>
          <p:nvPr/>
        </p:nvSpPr>
        <p:spPr>
          <a:xfrm>
            <a:off x="888206" y="1724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1714500"/>
            <a:ext cx="1457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2400300"/>
            <a:ext cx="5000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team sends the </a:t>
            </a:r>
            <a:r>
              <a:rPr lang="en-US" sz="135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campaign</a:t>
            </a:r>
            <a:r>
              <a:rPr lang="en-US" sz="13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all </a:t>
            </a:r>
            <a:r>
              <a:rPr lang="en-US" sz="135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2,236 customers</a:t>
            </a:r>
            <a:r>
              <a:rPr lang="en-US" sz="13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resulting in low conversion rates and wasted marketing budget.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2950" y="3502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28700" y="3464719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One-size-fits-all</a:t>
            </a:r>
            <a:r>
              <a:rPr lang="en-US" sz="12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approach ignores customer diversity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2950" y="3883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" y="3845719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identification</a:t>
            </a:r>
            <a:r>
              <a:rPr lang="en-US" sz="12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high-value customers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2950" y="4264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" y="4226719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early warning</a:t>
            </a:r>
            <a:r>
              <a:rPr lang="en-US" sz="12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 for customer churn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2950" y="4645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28700" y="4607719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data-driven</a:t>
            </a:r>
            <a:r>
              <a:rPr lang="en-US" sz="12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decision making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7450" y="1257300"/>
            <a:ext cx="5543550" cy="4000500"/>
          </a:xfrm>
          <a:custGeom>
            <a:avLst/>
            <a:gdLst/>
            <a:ahLst/>
            <a:cxnLst/>
            <a:rect l="l" t="t" r="r" b="b"/>
            <a:pathLst>
              <a:path w="5543550" h="4000500">
                <a:moveTo>
                  <a:pt x="38100" y="0"/>
                </a:moveTo>
                <a:lnTo>
                  <a:pt x="5391131" y="0"/>
                </a:lnTo>
                <a:cubicBezTo>
                  <a:pt x="5475310" y="0"/>
                  <a:pt x="5543550" y="68240"/>
                  <a:pt x="5543550" y="152419"/>
                </a:cubicBezTo>
                <a:lnTo>
                  <a:pt x="5543550" y="3848081"/>
                </a:lnTo>
                <a:cubicBezTo>
                  <a:pt x="5543550" y="3932260"/>
                  <a:pt x="5475310" y="4000500"/>
                  <a:pt x="5391131" y="4000500"/>
                </a:cubicBezTo>
                <a:lnTo>
                  <a:pt x="38100" y="4000500"/>
                </a:lnTo>
                <a:cubicBezTo>
                  <a:pt x="17058" y="4000500"/>
                  <a:pt x="0" y="3983442"/>
                  <a:pt x="0" y="396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7450" y="1257300"/>
            <a:ext cx="38100" cy="4000500"/>
          </a:xfrm>
          <a:custGeom>
            <a:avLst/>
            <a:gdLst/>
            <a:ahLst/>
            <a:cxnLst/>
            <a:rect l="l" t="t" r="r" b="b"/>
            <a:pathLst>
              <a:path w="38100" h="4000500">
                <a:moveTo>
                  <a:pt x="38100" y="0"/>
                </a:moveTo>
                <a:lnTo>
                  <a:pt x="38100" y="0"/>
                </a:lnTo>
                <a:lnTo>
                  <a:pt x="38100" y="4000500"/>
                </a:lnTo>
                <a:lnTo>
                  <a:pt x="38100" y="4000500"/>
                </a:lnTo>
                <a:cubicBezTo>
                  <a:pt x="17072" y="4000500"/>
                  <a:pt x="0" y="3983428"/>
                  <a:pt x="0" y="396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65913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1325" y="17240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353300" y="17145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91300" y="2400300"/>
            <a:ext cx="5000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Leverage </a:t>
            </a:r>
            <a:r>
              <a:rPr lang="en-US" sz="135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and Machine Learning</a:t>
            </a:r>
            <a:r>
              <a:rPr lang="en-US" sz="13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segment customers and predict campaign response, enabling personalized marketing strategies.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10350" y="3502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896100" y="3464719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segmentation</a:t>
            </a:r>
            <a:r>
              <a:rPr lang="en-US" sz="12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4 distinct personas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610350" y="3883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896100" y="3845719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r>
              <a:rPr lang="en-US" sz="12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campaign success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10350" y="4264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96100" y="422671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</a:t>
            </a:r>
            <a:r>
              <a:rPr lang="en-US" sz="12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instant insights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10350" y="46458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896100" y="4607719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</a:t>
            </a:r>
            <a:r>
              <a:rPr lang="en-US" sz="12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strategic recommendations</a:t>
            </a:r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2D2F24-B31E-F6B4-6AD7-E4C1F303141D}"/>
              </a:ext>
            </a:extLst>
          </p:cNvPr>
          <p:cNvSpPr txBox="1"/>
          <p:nvPr/>
        </p:nvSpPr>
        <p:spPr>
          <a:xfrm>
            <a:off x="742950" y="5500090"/>
            <a:ext cx="11068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Liter" panose="020B0604020202020204" charset="0"/>
              </a:rPr>
              <a:t>Customer personality analysis helps a business to modify its product based on its target customers from different types of customer segments.</a:t>
            </a:r>
          </a:p>
          <a:p>
            <a:r>
              <a:rPr lang="en-IN" dirty="0">
                <a:latin typeface="Liter" panose="020B0604020202020204" charset="0"/>
              </a:rPr>
              <a:t>Finding the potential customers by analysing the behaviour of them is useful to understand the targeted customers.    </a:t>
            </a:r>
          </a:p>
          <a:p>
            <a:endParaRPr lang="en-IN" dirty="0">
              <a:latin typeface="Liter" panose="020B060402020202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EXPLORATION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 (EDA)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customer behavior patterns through statistical analysis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D34EEC-1C7B-45F5-7A66-A64161D5DDE1}"/>
              </a:ext>
            </a:extLst>
          </p:cNvPr>
          <p:cNvSpPr txBox="1"/>
          <p:nvPr/>
        </p:nvSpPr>
        <p:spPr>
          <a:xfrm>
            <a:off x="381000" y="1890421"/>
            <a:ext cx="3528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Liter" panose="020B0604020202020204" charset="0"/>
              </a:rPr>
              <a:t>Outliers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Liter" panose="020B0604020202020204" charset="0"/>
              </a:rPr>
              <a:t>(Before Caping)</a:t>
            </a:r>
            <a:endParaRPr lang="en-IN" sz="2400" b="1" dirty="0">
              <a:solidFill>
                <a:schemeClr val="accent5">
                  <a:lumMod val="50000"/>
                </a:schemeClr>
              </a:solidFill>
              <a:latin typeface="Liter" panose="020B060402020202020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CA202CF-0305-0387-D66F-08540A2E2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4" y="2523530"/>
            <a:ext cx="5715000" cy="359626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89A2680-1A95-A8E3-39E6-66E6631A69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2"/>
          <a:stretch>
            <a:fillRect/>
          </a:stretch>
        </p:blipFill>
        <p:spPr>
          <a:xfrm>
            <a:off x="6054013" y="2523530"/>
            <a:ext cx="6137987" cy="35969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873832B7-0299-F60F-E4AB-DC9A3DC29086}"/>
              </a:ext>
            </a:extLst>
          </p:cNvPr>
          <p:cNvSpPr txBox="1"/>
          <p:nvPr/>
        </p:nvSpPr>
        <p:spPr>
          <a:xfrm>
            <a:off x="6736702" y="1890421"/>
            <a:ext cx="1612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Liter" panose="020B0604020202020204" charset="0"/>
              </a:rPr>
              <a:t>Histogram</a:t>
            </a:r>
            <a:endParaRPr lang="en-IN" sz="2400" b="1" dirty="0">
              <a:solidFill>
                <a:schemeClr val="accent5">
                  <a:lumMod val="50000"/>
                </a:schemeClr>
              </a:solidFill>
              <a:latin typeface="Liter" panose="020B060402020202020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F84F2E-9EFA-EF0E-4669-413BE4DD99FE}"/>
              </a:ext>
            </a:extLst>
          </p:cNvPr>
          <p:cNvSpPr txBox="1"/>
          <p:nvPr/>
        </p:nvSpPr>
        <p:spPr>
          <a:xfrm>
            <a:off x="245366" y="6196718"/>
            <a:ext cx="11701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Liter" panose="020B0604020202020204" charset="0"/>
              </a:rPr>
              <a:t>V</a:t>
            </a:r>
            <a:r>
              <a:rPr lang="en-US" dirty="0">
                <a:effectLst/>
                <a:latin typeface="Liter" panose="020B0604020202020204" charset="0"/>
              </a:rPr>
              <a:t>isualized the raw histograms first to provide statistical evidence of 'Right-Skewness', proving that outliers were distorting the mean and necessitating removal to ensure accurate K-Means centroid calculation.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4FCC82-57D5-CC84-891F-47ED53623073}"/>
              </a:ext>
            </a:extLst>
          </p:cNvPr>
          <p:cNvSpPr txBox="1"/>
          <p:nvPr/>
        </p:nvSpPr>
        <p:spPr>
          <a:xfrm>
            <a:off x="381000" y="1475667"/>
            <a:ext cx="3926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6699"/>
                </a:solidFill>
                <a:latin typeface="Liter" panose="020B0604020202020204" charset="0"/>
              </a:rPr>
              <a:t>Missing Values: 24- Filled with Median</a:t>
            </a:r>
            <a:endParaRPr lang="en-IN" sz="1600" dirty="0">
              <a:solidFill>
                <a:srgbClr val="336699"/>
              </a:solidFill>
              <a:latin typeface="Liter" panose="020B060402020202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829EC4-9939-65B9-32F9-DD16A44E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8" y="1324946"/>
            <a:ext cx="6320589" cy="4099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C167F0-34C4-A683-1F42-9C66FF3F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404" y="1371599"/>
            <a:ext cx="5368048" cy="40343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F493A1-1AAE-9F2F-162E-AED0E2EAF60F}"/>
              </a:ext>
            </a:extLst>
          </p:cNvPr>
          <p:cNvSpPr txBox="1"/>
          <p:nvPr/>
        </p:nvSpPr>
        <p:spPr>
          <a:xfrm>
            <a:off x="208548" y="149289"/>
            <a:ext cx="5152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Liter" panose="020B0604020202020204" charset="0"/>
              </a:rPr>
              <a:t>Visuals after handling the outlier</a:t>
            </a:r>
            <a:endParaRPr lang="en-IN" sz="2800" b="1" dirty="0">
              <a:solidFill>
                <a:schemeClr val="accent5">
                  <a:lumMod val="50000"/>
                </a:schemeClr>
              </a:solidFill>
              <a:latin typeface="Liter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462F1-D3ED-6B6F-6855-0A797AEA702E}"/>
              </a:ext>
            </a:extLst>
          </p:cNvPr>
          <p:cNvSpPr txBox="1"/>
          <p:nvPr/>
        </p:nvSpPr>
        <p:spPr>
          <a:xfrm>
            <a:off x="577516" y="5757682"/>
            <a:ext cx="11036968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effectLst/>
                <a:latin typeface="Liter" panose="020B0604020202020204" charset="0"/>
              </a:rPr>
              <a:t>A</a:t>
            </a:r>
            <a:r>
              <a:rPr lang="en-US" sz="2400" dirty="0">
                <a:latin typeface="Liter" panose="020B0604020202020204" charset="0"/>
              </a:rPr>
              <a:t>ft</a:t>
            </a:r>
            <a:r>
              <a:rPr lang="en-US" sz="2400" b="0" dirty="0">
                <a:effectLst/>
                <a:latin typeface="Liter" panose="020B0604020202020204" charset="0"/>
              </a:rPr>
              <a:t>er  cleaning we got beautiful, normal distributions (Bell Curves) 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9C229-616D-9368-68BA-1FBD2A933798}"/>
              </a:ext>
            </a:extLst>
          </p:cNvPr>
          <p:cNvSpPr txBox="1"/>
          <p:nvPr/>
        </p:nvSpPr>
        <p:spPr>
          <a:xfrm>
            <a:off x="368968" y="752993"/>
            <a:ext cx="11614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Liter" panose="020B0604020202020204" charset="0"/>
              </a:rPr>
              <a:t>Histogram                                                               Boxplot</a:t>
            </a:r>
            <a:endParaRPr lang="en-IN" sz="3200" dirty="0">
              <a:latin typeface="Li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23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9D31E7-CFCE-2C0E-04CE-3B238D309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68955" cy="5245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07BA93-D8AF-75A1-3708-D673ABC49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261" y="44116"/>
            <a:ext cx="6229739" cy="5515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5F3299-C35B-4AF5-9178-08753042C2D6}"/>
              </a:ext>
            </a:extLst>
          </p:cNvPr>
          <p:cNvSpPr txBox="1"/>
          <p:nvPr/>
        </p:nvSpPr>
        <p:spPr>
          <a:xfrm>
            <a:off x="0" y="5682460"/>
            <a:ext cx="56307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Liter" panose="020B0604020202020204" charset="0"/>
              </a:rPr>
              <a:t>Pairplots</a:t>
            </a:r>
            <a:r>
              <a:rPr lang="en-US" dirty="0">
                <a:latin typeface="Liter" panose="020B0604020202020204" charset="0"/>
              </a:rPr>
              <a:t> help visualize relationships between multiple variables at the same time and show how customer groups naturally separate.</a:t>
            </a:r>
            <a:endParaRPr lang="en-IN" dirty="0">
              <a:latin typeface="Liter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B992A-AD72-514F-A7BD-B19F2BCA075C}"/>
              </a:ext>
            </a:extLst>
          </p:cNvPr>
          <p:cNvSpPr txBox="1"/>
          <p:nvPr/>
        </p:nvSpPr>
        <p:spPr>
          <a:xfrm>
            <a:off x="6095999" y="5682460"/>
            <a:ext cx="58930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iter" panose="020B0604020202020204" charset="0"/>
              </a:rPr>
              <a:t>We used a correlation matrix to understand </a:t>
            </a:r>
            <a:r>
              <a:rPr lang="en-US" b="1" dirty="0">
                <a:latin typeface="Liter" panose="020B0604020202020204" charset="0"/>
              </a:rPr>
              <a:t>how strongly different features are related to each other</a:t>
            </a:r>
            <a:r>
              <a:rPr lang="en-US" dirty="0">
                <a:latin typeface="Liter" panose="020B0604020202020204" charset="0"/>
              </a:rPr>
              <a:t>, especially income, spending, and recency.</a:t>
            </a:r>
            <a:endParaRPr lang="en-IN" dirty="0">
              <a:latin typeface="Li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Methodology: K-Means Clustering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Grouping customers based on similarity using Euclidean distance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5638800" cy="3429000"/>
          </a:xfrm>
          <a:custGeom>
            <a:avLst/>
            <a:gdLst/>
            <a:ahLst/>
            <a:cxnLst/>
            <a:rect l="l" t="t" r="r" b="b"/>
            <a:pathLst>
              <a:path w="5638800" h="3429000">
                <a:moveTo>
                  <a:pt x="114289" y="0"/>
                </a:moveTo>
                <a:lnTo>
                  <a:pt x="5524511" y="0"/>
                </a:lnTo>
                <a:cubicBezTo>
                  <a:pt x="5587589" y="0"/>
                  <a:pt x="5638800" y="51211"/>
                  <a:pt x="5638800" y="114289"/>
                </a:cubicBezTo>
                <a:lnTo>
                  <a:pt x="5638800" y="3314711"/>
                </a:lnTo>
                <a:cubicBezTo>
                  <a:pt x="5638800" y="3377831"/>
                  <a:pt x="5587631" y="3429000"/>
                  <a:pt x="5524511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3400" y="16764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Elbow Method for Optimal K</a:t>
            </a:r>
            <a:endParaRPr lang="en-US" sz="1600" dirty="0"/>
          </a:p>
        </p:txBody>
      </p:sp>
      <p:pic>
        <p:nvPicPr>
          <p:cNvPr id="7" name="Image 0" descr="https://kimi-img.moonshot.cn/pub/slides/okc/gu7t4xhhkfljq/charts/elbow_plot.png"/>
          <p:cNvPicPr>
            <a:picLocks noChangeAspect="1"/>
          </p:cNvPicPr>
          <p:nvPr/>
        </p:nvPicPr>
        <p:blipFill>
          <a:blip r:embed="rId3"/>
          <a:srcRect t="12989" b="12989"/>
          <a:stretch/>
        </p:blipFill>
        <p:spPr>
          <a:xfrm>
            <a:off x="533400" y="2019300"/>
            <a:ext cx="5334000" cy="2286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33400" y="4381500"/>
            <a:ext cx="5334000" cy="419100"/>
          </a:xfrm>
          <a:custGeom>
            <a:avLst/>
            <a:gdLst/>
            <a:ahLst/>
            <a:cxnLst/>
            <a:rect l="l" t="t" r="r" b="b"/>
            <a:pathLst>
              <a:path w="5334000" h="419100">
                <a:moveTo>
                  <a:pt x="76201" y="0"/>
                </a:moveTo>
                <a:lnTo>
                  <a:pt x="5257799" y="0"/>
                </a:lnTo>
                <a:cubicBezTo>
                  <a:pt x="5299884" y="0"/>
                  <a:pt x="5334000" y="34116"/>
                  <a:pt x="5334000" y="76201"/>
                </a:cubicBezTo>
                <a:lnTo>
                  <a:pt x="5334000" y="342899"/>
                </a:lnTo>
                <a:cubicBezTo>
                  <a:pt x="5334000" y="384984"/>
                  <a:pt x="5299884" y="419100"/>
                  <a:pt x="52577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9" name="Text 6"/>
          <p:cNvSpPr/>
          <p:nvPr/>
        </p:nvSpPr>
        <p:spPr>
          <a:xfrm>
            <a:off x="647700" y="4495800"/>
            <a:ext cx="517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K = 4</a:t>
            </a:r>
            <a:r>
              <a:rPr lang="en-US" sz="105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 elbow point indicates diminishing returns beyond 4 clusters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524000"/>
            <a:ext cx="5638800" cy="3429000"/>
          </a:xfrm>
          <a:custGeom>
            <a:avLst/>
            <a:gdLst/>
            <a:ahLst/>
            <a:cxnLst/>
            <a:rect l="l" t="t" r="r" b="b"/>
            <a:pathLst>
              <a:path w="5638800" h="3429000">
                <a:moveTo>
                  <a:pt x="114289" y="0"/>
                </a:moveTo>
                <a:lnTo>
                  <a:pt x="5524511" y="0"/>
                </a:lnTo>
                <a:cubicBezTo>
                  <a:pt x="5587589" y="0"/>
                  <a:pt x="5638800" y="51211"/>
                  <a:pt x="5638800" y="114289"/>
                </a:cubicBezTo>
                <a:lnTo>
                  <a:pt x="5638800" y="3314711"/>
                </a:lnTo>
                <a:cubicBezTo>
                  <a:pt x="5638800" y="3377831"/>
                  <a:pt x="5587631" y="3429000"/>
                  <a:pt x="5524511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24600" y="16764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Segments Visualization</a:t>
            </a:r>
            <a:endParaRPr lang="en-US" sz="1600" dirty="0"/>
          </a:p>
        </p:txBody>
      </p:sp>
      <p:pic>
        <p:nvPicPr>
          <p:cNvPr id="12" name="Image 1" descr="https://kimi-img.moonshot.cn/pub/slides/okc/gu7t4xhhkfljq/charts/cluster_scatter.png"/>
          <p:cNvPicPr>
            <a:picLocks noChangeAspect="1"/>
          </p:cNvPicPr>
          <p:nvPr/>
        </p:nvPicPr>
        <p:blipFill>
          <a:blip r:embed="rId4"/>
          <a:srcRect t="16504" b="16504"/>
          <a:stretch/>
        </p:blipFill>
        <p:spPr>
          <a:xfrm>
            <a:off x="6324600" y="2019300"/>
            <a:ext cx="5334000" cy="2286000"/>
          </a:xfrm>
          <a:prstGeom prst="roundRect">
            <a:avLst>
              <a:gd name="adj" fmla="val 0"/>
            </a:avLst>
          </a:prstGeom>
        </p:spPr>
      </p:pic>
      <p:sp>
        <p:nvSpPr>
          <p:cNvPr id="13" name="Shape 9"/>
          <p:cNvSpPr/>
          <p:nvPr/>
        </p:nvSpPr>
        <p:spPr>
          <a:xfrm>
            <a:off x="6324600" y="440043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4" name="Text 10"/>
          <p:cNvSpPr/>
          <p:nvPr/>
        </p:nvSpPr>
        <p:spPr>
          <a:xfrm>
            <a:off x="6515100" y="4381500"/>
            <a:ext cx="781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Family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9029700" y="440043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9220200" y="4381500"/>
            <a:ext cx="428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At-Risk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324600" y="46289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4"/>
          <p:cNvSpPr/>
          <p:nvPr/>
        </p:nvSpPr>
        <p:spPr>
          <a:xfrm>
            <a:off x="6515100" y="4609981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VIP Elite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9029700" y="46289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38100" y="0"/>
                </a:moveTo>
                <a:lnTo>
                  <a:pt x="76200" y="0"/>
                </a:lnTo>
                <a:cubicBezTo>
                  <a:pt x="97228" y="0"/>
                  <a:pt x="114300" y="17072"/>
                  <a:pt x="114300" y="38100"/>
                </a:cubicBezTo>
                <a:lnTo>
                  <a:pt x="114300" y="76200"/>
                </a:lnTo>
                <a:cubicBezTo>
                  <a:pt x="114300" y="97228"/>
                  <a:pt x="97228" y="114300"/>
                  <a:pt x="76200" y="114300"/>
                </a:cubicBezTo>
                <a:lnTo>
                  <a:pt x="38100" y="114300"/>
                </a:lnTo>
                <a:cubicBezTo>
                  <a:pt x="17072" y="114300"/>
                  <a:pt x="0" y="97228"/>
                  <a:pt x="0" y="76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6"/>
          <p:cNvSpPr/>
          <p:nvPr/>
        </p:nvSpPr>
        <p:spPr>
          <a:xfrm>
            <a:off x="9220200" y="4609981"/>
            <a:ext cx="733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User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81000" y="5105400"/>
            <a:ext cx="11430000" cy="1638300"/>
          </a:xfrm>
          <a:custGeom>
            <a:avLst/>
            <a:gdLst/>
            <a:ahLst/>
            <a:cxnLst/>
            <a:rect l="l" t="t" r="r" b="b"/>
            <a:pathLst>
              <a:path w="11430000" h="1638300">
                <a:moveTo>
                  <a:pt x="114304" y="0"/>
                </a:moveTo>
                <a:lnTo>
                  <a:pt x="11315696" y="0"/>
                </a:lnTo>
                <a:cubicBezTo>
                  <a:pt x="11378824" y="0"/>
                  <a:pt x="11430000" y="51176"/>
                  <a:pt x="11430000" y="114304"/>
                </a:cubicBezTo>
                <a:lnTo>
                  <a:pt x="11430000" y="1523996"/>
                </a:lnTo>
                <a:cubicBezTo>
                  <a:pt x="11430000" y="1587124"/>
                  <a:pt x="11378824" y="1638300"/>
                  <a:pt x="11315696" y="1638300"/>
                </a:cubicBezTo>
                <a:lnTo>
                  <a:pt x="114304" y="1638300"/>
                </a:lnTo>
                <a:cubicBezTo>
                  <a:pt x="51176" y="1638300"/>
                  <a:pt x="0" y="1587124"/>
                  <a:pt x="0" y="15239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33400" y="5257800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Algorithm Process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600200" y="563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4" name="Text 20"/>
          <p:cNvSpPr/>
          <p:nvPr/>
        </p:nvSpPr>
        <p:spPr>
          <a:xfrm>
            <a:off x="1552575" y="5638800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00063" y="62484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04825" y="6438900"/>
            <a:ext cx="2724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centroids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4419600" y="563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E5984"/>
          </a:solidFill>
          <a:ln/>
        </p:spPr>
      </p:sp>
      <p:sp>
        <p:nvSpPr>
          <p:cNvPr id="28" name="Text 24"/>
          <p:cNvSpPr/>
          <p:nvPr/>
        </p:nvSpPr>
        <p:spPr>
          <a:xfrm>
            <a:off x="4371975" y="5638800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3319463" y="62484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3324225" y="6438900"/>
            <a:ext cx="2724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Euclidean distance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7239000" y="563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28"/>
          <p:cNvSpPr/>
          <p:nvPr/>
        </p:nvSpPr>
        <p:spPr>
          <a:xfrm>
            <a:off x="7191375" y="5638800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138863" y="62484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6143625" y="6438900"/>
            <a:ext cx="2724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Recalculate centroids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10058400" y="5638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6" name="Text 32"/>
          <p:cNvSpPr/>
          <p:nvPr/>
        </p:nvSpPr>
        <p:spPr>
          <a:xfrm>
            <a:off x="10010775" y="5638800"/>
            <a:ext cx="628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8958263" y="6248400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Converge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8963025" y="6438900"/>
            <a:ext cx="2724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 until stable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4 Customer Personas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Distinct segments with unique characteristics and behaviors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43050"/>
            <a:ext cx="5657850" cy="2533650"/>
          </a:xfrm>
          <a:custGeom>
            <a:avLst/>
            <a:gdLst/>
            <a:ahLst/>
            <a:cxnLst/>
            <a:rect l="l" t="t" r="r" b="b"/>
            <a:pathLst>
              <a:path w="5657850" h="25336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419357"/>
                </a:lnTo>
                <a:cubicBezTo>
                  <a:pt x="5657850" y="2482479"/>
                  <a:pt x="5606679" y="2533650"/>
                  <a:pt x="5543557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543050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3" y="1828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171450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VIP Elite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4900" y="1981200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2 • 607 customers (27.1%)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286000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581025" y="2362200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Income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738" y="2514481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$75,827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8025" y="2286000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3295650" y="2362200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Spend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81363" y="2514481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$1,392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2933581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581025" y="3009781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738" y="3162063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28.0%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48025" y="2933581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295650" y="3009781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81363" y="3162063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 yrs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3619263"/>
            <a:ext cx="5353050" cy="304800"/>
          </a:xfrm>
          <a:custGeom>
            <a:avLst/>
            <a:gdLst/>
            <a:ahLst/>
            <a:cxnLst/>
            <a:rect l="l" t="t" r="r" b="b"/>
            <a:pathLst>
              <a:path w="5353050" h="304800">
                <a:moveTo>
                  <a:pt x="76200" y="0"/>
                </a:moveTo>
                <a:lnTo>
                  <a:pt x="5276850" y="0"/>
                </a:lnTo>
                <a:cubicBezTo>
                  <a:pt x="5318906" y="0"/>
                  <a:pt x="5353050" y="34144"/>
                  <a:pt x="5353050" y="76200"/>
                </a:cubicBezTo>
                <a:lnTo>
                  <a:pt x="5353050" y="228600"/>
                </a:lnTo>
                <a:cubicBezTo>
                  <a:pt x="5353050" y="270656"/>
                  <a:pt x="5318906" y="304800"/>
                  <a:pt x="52768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609600" y="3695463"/>
            <a:ext cx="525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Strategy:</a:t>
            </a:r>
            <a:r>
              <a:rPr lang="en-US" sz="9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Premium rewards, exclusive access, no discounts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53150" y="1543050"/>
            <a:ext cx="5657850" cy="2533650"/>
          </a:xfrm>
          <a:custGeom>
            <a:avLst/>
            <a:gdLst/>
            <a:ahLst/>
            <a:cxnLst/>
            <a:rect l="l" t="t" r="r" b="b"/>
            <a:pathLst>
              <a:path w="5657850" h="25336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419357"/>
                </a:lnTo>
                <a:cubicBezTo>
                  <a:pt x="5657850" y="2482479"/>
                  <a:pt x="5606679" y="2533650"/>
                  <a:pt x="5543557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3150" y="1543050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5550" y="171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6434138" y="1828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877050" y="1714500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User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77050" y="19812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3 • 500 customers (22.4%)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5550" y="2286000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6353175" y="2362200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Income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38888" y="2514481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$55,020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20175" y="2286000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9067800" y="2362200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Spend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53513" y="2514481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$540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5550" y="2933581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6353175" y="3009781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Rate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38888" y="3162063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15.0%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20175" y="2933581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9067800" y="3009781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Age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53513" y="3162063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 yrs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5550" y="3619263"/>
            <a:ext cx="5353050" cy="304800"/>
          </a:xfrm>
          <a:custGeom>
            <a:avLst/>
            <a:gdLst/>
            <a:ahLst/>
            <a:cxnLst/>
            <a:rect l="l" t="t" r="r" b="b"/>
            <a:pathLst>
              <a:path w="5353050" h="304800">
                <a:moveTo>
                  <a:pt x="76200" y="0"/>
                </a:moveTo>
                <a:lnTo>
                  <a:pt x="5276850" y="0"/>
                </a:lnTo>
                <a:cubicBezTo>
                  <a:pt x="5318906" y="0"/>
                  <a:pt x="5353050" y="34144"/>
                  <a:pt x="5353050" y="76200"/>
                </a:cubicBezTo>
                <a:lnTo>
                  <a:pt x="5353050" y="228600"/>
                </a:lnTo>
                <a:cubicBezTo>
                  <a:pt x="5353050" y="270656"/>
                  <a:pt x="5318906" y="304800"/>
                  <a:pt x="52768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44" name="Text 42"/>
          <p:cNvSpPr/>
          <p:nvPr/>
        </p:nvSpPr>
        <p:spPr>
          <a:xfrm>
            <a:off x="6381750" y="3695463"/>
            <a:ext cx="525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Strategy:</a:t>
            </a:r>
            <a:r>
              <a:rPr lang="en-US" sz="9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Loyalty program, personalized recommendations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1000" y="4209694"/>
            <a:ext cx="5657850" cy="2533650"/>
          </a:xfrm>
          <a:custGeom>
            <a:avLst/>
            <a:gdLst/>
            <a:ahLst/>
            <a:cxnLst/>
            <a:rect l="l" t="t" r="r" b="b"/>
            <a:pathLst>
              <a:path w="5657850" h="25336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419357"/>
                </a:lnTo>
                <a:cubicBezTo>
                  <a:pt x="5657850" y="2482479"/>
                  <a:pt x="5606679" y="2533650"/>
                  <a:pt x="5543557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81000" y="4209694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" y="43811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EE2E2"/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" y="44954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33" y="3840"/>
                </a:moveTo>
                <a:cubicBezTo>
                  <a:pt x="118542" y="-1250"/>
                  <a:pt x="110058" y="-1250"/>
                  <a:pt x="104611" y="3840"/>
                </a:cubicBezTo>
                <a:lnTo>
                  <a:pt x="4599" y="96709"/>
                </a:lnTo>
                <a:cubicBezTo>
                  <a:pt x="313" y="100727"/>
                  <a:pt x="-1116" y="106933"/>
                  <a:pt x="1027" y="112380"/>
                </a:cubicBezTo>
                <a:cubicBezTo>
                  <a:pt x="3170" y="117827"/>
                  <a:pt x="8394" y="121444"/>
                  <a:pt x="14288" y="121444"/>
                </a:cubicBezTo>
                <a:lnTo>
                  <a:pt x="21431" y="121444"/>
                </a:lnTo>
                <a:lnTo>
                  <a:pt x="21431" y="200025"/>
                </a:lnTo>
                <a:cubicBezTo>
                  <a:pt x="21431" y="215786"/>
                  <a:pt x="34245" y="228600"/>
                  <a:pt x="50006" y="228600"/>
                </a:cubicBezTo>
                <a:lnTo>
                  <a:pt x="178594" y="228600"/>
                </a:lnTo>
                <a:cubicBezTo>
                  <a:pt x="194355" y="228600"/>
                  <a:pt x="207169" y="215786"/>
                  <a:pt x="207169" y="200025"/>
                </a:cubicBezTo>
                <a:lnTo>
                  <a:pt x="207169" y="121444"/>
                </a:lnTo>
                <a:lnTo>
                  <a:pt x="214313" y="121444"/>
                </a:lnTo>
                <a:cubicBezTo>
                  <a:pt x="220206" y="121444"/>
                  <a:pt x="225475" y="117827"/>
                  <a:pt x="227618" y="112380"/>
                </a:cubicBezTo>
                <a:cubicBezTo>
                  <a:pt x="229761" y="106933"/>
                  <a:pt x="228332" y="100682"/>
                  <a:pt x="224046" y="96709"/>
                </a:cubicBezTo>
                <a:lnTo>
                  <a:pt x="124033" y="3840"/>
                </a:ln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33276" y="142875"/>
                  <a:pt x="142875" y="152474"/>
                  <a:pt x="142875" y="164306"/>
                </a:cubicBezTo>
                <a:lnTo>
                  <a:pt x="142875" y="207169"/>
                </a:lnTo>
                <a:lnTo>
                  <a:pt x="85725" y="207169"/>
                </a:lnTo>
                <a:lnTo>
                  <a:pt x="85725" y="164306"/>
                </a:lnTo>
                <a:cubicBezTo>
                  <a:pt x="85725" y="152474"/>
                  <a:pt x="95324" y="142875"/>
                  <a:pt x="107156" y="14287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1104900" y="4381144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Family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4900" y="4647844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0 • 574 customers (25.7%)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3400" y="4952644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581025" y="5028844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Income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66738" y="5181123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$29,973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248025" y="4952644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5" name="Text 53"/>
          <p:cNvSpPr/>
          <p:nvPr/>
        </p:nvSpPr>
        <p:spPr>
          <a:xfrm>
            <a:off x="3295650" y="5028844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Spend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281363" y="5181123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$122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33400" y="5600223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581025" y="5676423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Rate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66738" y="5828705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13.0%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248025" y="5600223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3295650" y="5676423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Age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281363" y="5828705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 yrs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33400" y="6285905"/>
            <a:ext cx="5353050" cy="304800"/>
          </a:xfrm>
          <a:custGeom>
            <a:avLst/>
            <a:gdLst/>
            <a:ahLst/>
            <a:cxnLst/>
            <a:rect l="l" t="t" r="r" b="b"/>
            <a:pathLst>
              <a:path w="5353050" h="304800">
                <a:moveTo>
                  <a:pt x="76200" y="0"/>
                </a:moveTo>
                <a:lnTo>
                  <a:pt x="5276850" y="0"/>
                </a:lnTo>
                <a:cubicBezTo>
                  <a:pt x="5318906" y="0"/>
                  <a:pt x="5353050" y="34144"/>
                  <a:pt x="5353050" y="76200"/>
                </a:cubicBezTo>
                <a:lnTo>
                  <a:pt x="5353050" y="228600"/>
                </a:lnTo>
                <a:cubicBezTo>
                  <a:pt x="5353050" y="270656"/>
                  <a:pt x="5318906" y="304800"/>
                  <a:pt x="52768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EE2E2"/>
          </a:solidFill>
          <a:ln/>
        </p:spPr>
      </p:sp>
      <p:sp>
        <p:nvSpPr>
          <p:cNvPr id="64" name="Text 62"/>
          <p:cNvSpPr/>
          <p:nvPr/>
        </p:nvSpPr>
        <p:spPr>
          <a:xfrm>
            <a:off x="609600" y="6362105"/>
            <a:ext cx="525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Strategy:</a:t>
            </a:r>
            <a:r>
              <a:rPr lang="en-US" sz="9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Budget deals, family combos, value messaging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53150" y="4209694"/>
            <a:ext cx="5657850" cy="2533650"/>
          </a:xfrm>
          <a:custGeom>
            <a:avLst/>
            <a:gdLst/>
            <a:ahLst/>
            <a:cxnLst/>
            <a:rect l="l" t="t" r="r" b="b"/>
            <a:pathLst>
              <a:path w="5657850" h="25336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419357"/>
                </a:lnTo>
                <a:cubicBezTo>
                  <a:pt x="5657850" y="2482479"/>
                  <a:pt x="5606679" y="2533650"/>
                  <a:pt x="5543557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153150" y="4209694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7" name="Shape 65"/>
          <p:cNvSpPr/>
          <p:nvPr/>
        </p:nvSpPr>
        <p:spPr>
          <a:xfrm>
            <a:off x="6305550" y="438114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68" name="Shape 66"/>
          <p:cNvSpPr/>
          <p:nvPr/>
        </p:nvSpPr>
        <p:spPr>
          <a:xfrm>
            <a:off x="6505575" y="4495444"/>
            <a:ext cx="57150" cy="228600"/>
          </a:xfrm>
          <a:custGeom>
            <a:avLst/>
            <a:gdLst/>
            <a:ahLst/>
            <a:cxnLst/>
            <a:rect l="l" t="t" r="r" b="b"/>
            <a:pathLst>
              <a:path w="57150" h="228600">
                <a:moveTo>
                  <a:pt x="42863" y="14288"/>
                </a:moveTo>
                <a:cubicBezTo>
                  <a:pt x="42863" y="6385"/>
                  <a:pt x="36478" y="0"/>
                  <a:pt x="28575" y="0"/>
                </a:cubicBezTo>
                <a:cubicBezTo>
                  <a:pt x="20672" y="0"/>
                  <a:pt x="14288" y="6385"/>
                  <a:pt x="14288" y="14288"/>
                </a:cubicBezTo>
                <a:lnTo>
                  <a:pt x="14288" y="157163"/>
                </a:lnTo>
                <a:cubicBezTo>
                  <a:pt x="14288" y="165065"/>
                  <a:pt x="20672" y="171450"/>
                  <a:pt x="28575" y="171450"/>
                </a:cubicBezTo>
                <a:cubicBezTo>
                  <a:pt x="36478" y="171450"/>
                  <a:pt x="42863" y="165065"/>
                  <a:pt x="42863" y="157163"/>
                </a:cubicBezTo>
                <a:lnTo>
                  <a:pt x="42863" y="14288"/>
                </a:lnTo>
                <a:close/>
                <a:moveTo>
                  <a:pt x="28575" y="228600"/>
                </a:moveTo>
                <a:cubicBezTo>
                  <a:pt x="38442" y="228600"/>
                  <a:pt x="46434" y="220608"/>
                  <a:pt x="46434" y="210741"/>
                </a:cubicBezTo>
                <a:cubicBezTo>
                  <a:pt x="46434" y="200873"/>
                  <a:pt x="38442" y="192881"/>
                  <a:pt x="28575" y="192881"/>
                </a:cubicBezTo>
                <a:cubicBezTo>
                  <a:pt x="18708" y="192881"/>
                  <a:pt x="10716" y="200873"/>
                  <a:pt x="10716" y="210741"/>
                </a:cubicBezTo>
                <a:cubicBezTo>
                  <a:pt x="10716" y="220608"/>
                  <a:pt x="18708" y="228600"/>
                  <a:pt x="28575" y="22860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9" name="Text 67"/>
          <p:cNvSpPr/>
          <p:nvPr/>
        </p:nvSpPr>
        <p:spPr>
          <a:xfrm>
            <a:off x="6877050" y="4381144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At-Risk Customer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877050" y="4647844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1 • 555 customers (24.8%)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05550" y="4952644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6353175" y="5028844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Income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338888" y="5181123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$45,810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20175" y="4952644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5" name="Text 73"/>
          <p:cNvSpPr/>
          <p:nvPr/>
        </p:nvSpPr>
        <p:spPr>
          <a:xfrm>
            <a:off x="9067800" y="5028844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Spend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053513" y="5181123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$306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305550" y="5600223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8" name="Text 76"/>
          <p:cNvSpPr/>
          <p:nvPr/>
        </p:nvSpPr>
        <p:spPr>
          <a:xfrm>
            <a:off x="6353175" y="5676423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Rate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338888" y="5828705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3.0%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20175" y="5600223"/>
            <a:ext cx="2638425" cy="571500"/>
          </a:xfrm>
          <a:custGeom>
            <a:avLst/>
            <a:gdLst/>
            <a:ahLst/>
            <a:cxnLst/>
            <a:rect l="l" t="t" r="r" b="b"/>
            <a:pathLst>
              <a:path w="2638425" h="571500">
                <a:moveTo>
                  <a:pt x="76198" y="0"/>
                </a:moveTo>
                <a:lnTo>
                  <a:pt x="2562227" y="0"/>
                </a:lnTo>
                <a:cubicBezTo>
                  <a:pt x="2604310" y="0"/>
                  <a:pt x="2638425" y="34115"/>
                  <a:pt x="2638425" y="76198"/>
                </a:cubicBezTo>
                <a:lnTo>
                  <a:pt x="2638425" y="495302"/>
                </a:lnTo>
                <a:cubicBezTo>
                  <a:pt x="2638425" y="537385"/>
                  <a:pt x="2604310" y="571500"/>
                  <a:pt x="25622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1" name="Text 79"/>
          <p:cNvSpPr/>
          <p:nvPr/>
        </p:nvSpPr>
        <p:spPr>
          <a:xfrm>
            <a:off x="9067800" y="5676423"/>
            <a:ext cx="2543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Recency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9053513" y="5828705"/>
            <a:ext cx="2571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 days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05550" y="6285905"/>
            <a:ext cx="5353050" cy="304800"/>
          </a:xfrm>
          <a:custGeom>
            <a:avLst/>
            <a:gdLst/>
            <a:ahLst/>
            <a:cxnLst/>
            <a:rect l="l" t="t" r="r" b="b"/>
            <a:pathLst>
              <a:path w="5353050" h="304800">
                <a:moveTo>
                  <a:pt x="76200" y="0"/>
                </a:moveTo>
                <a:lnTo>
                  <a:pt x="5276850" y="0"/>
                </a:lnTo>
                <a:cubicBezTo>
                  <a:pt x="5318906" y="0"/>
                  <a:pt x="5353050" y="34144"/>
                  <a:pt x="5353050" y="76200"/>
                </a:cubicBezTo>
                <a:lnTo>
                  <a:pt x="5353050" y="228600"/>
                </a:lnTo>
                <a:cubicBezTo>
                  <a:pt x="5353050" y="270656"/>
                  <a:pt x="5318906" y="304800"/>
                  <a:pt x="52768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84" name="Text 82"/>
          <p:cNvSpPr/>
          <p:nvPr/>
        </p:nvSpPr>
        <p:spPr>
          <a:xfrm>
            <a:off x="6381750" y="6362105"/>
            <a:ext cx="525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Strategy:</a:t>
            </a:r>
            <a:r>
              <a:rPr lang="en-US" sz="90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URGENT win-back campaigns, "We Miss You" offers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78" y="376878"/>
            <a:ext cx="1150419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kern="0" spc="52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878" y="640692"/>
            <a:ext cx="11607839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Learning: Random Forest Classifier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6878" y="1092946"/>
            <a:ext cx="1152304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Predicting campaign response using ensemble of decision trees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6878" y="1507512"/>
            <a:ext cx="6802646" cy="3580340"/>
          </a:xfrm>
          <a:custGeom>
            <a:avLst/>
            <a:gdLst/>
            <a:ahLst/>
            <a:cxnLst/>
            <a:rect l="l" t="t" r="r" b="b"/>
            <a:pathLst>
              <a:path w="6802646" h="3580340">
                <a:moveTo>
                  <a:pt x="113067" y="0"/>
                </a:moveTo>
                <a:lnTo>
                  <a:pt x="6689579" y="0"/>
                </a:lnTo>
                <a:cubicBezTo>
                  <a:pt x="6752024" y="0"/>
                  <a:pt x="6802646" y="50622"/>
                  <a:pt x="6802646" y="113067"/>
                </a:cubicBezTo>
                <a:lnTo>
                  <a:pt x="6802646" y="3467273"/>
                </a:lnTo>
                <a:cubicBezTo>
                  <a:pt x="6802646" y="3529718"/>
                  <a:pt x="6752024" y="3580340"/>
                  <a:pt x="6689579" y="3580340"/>
                </a:cubicBezTo>
                <a:lnTo>
                  <a:pt x="113067" y="3580340"/>
                </a:lnTo>
                <a:cubicBezTo>
                  <a:pt x="50622" y="3580340"/>
                  <a:pt x="0" y="3529718"/>
                  <a:pt x="0" y="3467273"/>
                </a:cubicBezTo>
                <a:lnTo>
                  <a:pt x="0" y="113067"/>
                </a:lnTo>
                <a:cubicBezTo>
                  <a:pt x="0" y="50664"/>
                  <a:pt x="50664" y="0"/>
                  <a:pt x="11306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31453" y="1507512"/>
            <a:ext cx="4484847" cy="1771326"/>
          </a:xfrm>
          <a:custGeom>
            <a:avLst/>
            <a:gdLst/>
            <a:ahLst/>
            <a:cxnLst/>
            <a:rect l="l" t="t" r="r" b="b"/>
            <a:pathLst>
              <a:path w="4484847" h="1771326">
                <a:moveTo>
                  <a:pt x="113064" y="0"/>
                </a:moveTo>
                <a:lnTo>
                  <a:pt x="4371783" y="0"/>
                </a:lnTo>
                <a:cubicBezTo>
                  <a:pt x="4434227" y="0"/>
                  <a:pt x="4484847" y="50620"/>
                  <a:pt x="4484847" y="113064"/>
                </a:cubicBezTo>
                <a:lnTo>
                  <a:pt x="4484847" y="1658262"/>
                </a:lnTo>
                <a:cubicBezTo>
                  <a:pt x="4484847" y="1720706"/>
                  <a:pt x="4434227" y="1771326"/>
                  <a:pt x="4371783" y="1771326"/>
                </a:cubicBezTo>
                <a:lnTo>
                  <a:pt x="113064" y="1771326"/>
                </a:lnTo>
                <a:cubicBezTo>
                  <a:pt x="50620" y="1771326"/>
                  <a:pt x="0" y="1720706"/>
                  <a:pt x="0" y="1658262"/>
                </a:cubicBezTo>
                <a:lnTo>
                  <a:pt x="0" y="113064"/>
                </a:lnTo>
                <a:cubicBezTo>
                  <a:pt x="0" y="50620"/>
                  <a:pt x="50620" y="0"/>
                  <a:pt x="113064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482204" y="1658263"/>
            <a:ext cx="426814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Random Forest?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09292" y="2072828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12018" y="18060"/>
                </a:moveTo>
                <a:cubicBezTo>
                  <a:pt x="115702" y="20739"/>
                  <a:pt x="116527" y="25892"/>
                  <a:pt x="113847" y="29576"/>
                </a:cubicBezTo>
                <a:lnTo>
                  <a:pt x="47894" y="120262"/>
                </a:lnTo>
                <a:cubicBezTo>
                  <a:pt x="46477" y="122220"/>
                  <a:pt x="44287" y="123431"/>
                  <a:pt x="41865" y="123637"/>
                </a:cubicBezTo>
                <a:cubicBezTo>
                  <a:pt x="39443" y="123843"/>
                  <a:pt x="37099" y="122942"/>
                  <a:pt x="35399" y="121241"/>
                </a:cubicBezTo>
                <a:lnTo>
                  <a:pt x="2422" y="88265"/>
                </a:lnTo>
                <a:cubicBezTo>
                  <a:pt x="-799" y="85044"/>
                  <a:pt x="-799" y="79814"/>
                  <a:pt x="2422" y="76594"/>
                </a:cubicBezTo>
                <a:cubicBezTo>
                  <a:pt x="5642" y="73373"/>
                  <a:pt x="10872" y="73373"/>
                  <a:pt x="14092" y="76594"/>
                </a:cubicBezTo>
                <a:lnTo>
                  <a:pt x="40242" y="102743"/>
                </a:lnTo>
                <a:lnTo>
                  <a:pt x="100528" y="19863"/>
                </a:lnTo>
                <a:cubicBezTo>
                  <a:pt x="103207" y="16179"/>
                  <a:pt x="108360" y="15355"/>
                  <a:pt x="112044" y="1803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22464" y="2035141"/>
            <a:ext cx="296791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non-linear</a:t>
            </a: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relationships between features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09292" y="2374331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12018" y="18060"/>
                </a:moveTo>
                <a:cubicBezTo>
                  <a:pt x="115702" y="20739"/>
                  <a:pt x="116527" y="25892"/>
                  <a:pt x="113847" y="29576"/>
                </a:cubicBezTo>
                <a:lnTo>
                  <a:pt x="47894" y="120262"/>
                </a:lnTo>
                <a:cubicBezTo>
                  <a:pt x="46477" y="122220"/>
                  <a:pt x="44287" y="123431"/>
                  <a:pt x="41865" y="123637"/>
                </a:cubicBezTo>
                <a:cubicBezTo>
                  <a:pt x="39443" y="123843"/>
                  <a:pt x="37099" y="122942"/>
                  <a:pt x="35399" y="121241"/>
                </a:cubicBezTo>
                <a:lnTo>
                  <a:pt x="2422" y="88265"/>
                </a:lnTo>
                <a:cubicBezTo>
                  <a:pt x="-799" y="85044"/>
                  <a:pt x="-799" y="79814"/>
                  <a:pt x="2422" y="76594"/>
                </a:cubicBezTo>
                <a:cubicBezTo>
                  <a:pt x="5642" y="73373"/>
                  <a:pt x="10872" y="73373"/>
                  <a:pt x="14092" y="76594"/>
                </a:cubicBezTo>
                <a:lnTo>
                  <a:pt x="40242" y="102743"/>
                </a:lnTo>
                <a:lnTo>
                  <a:pt x="100528" y="19863"/>
                </a:lnTo>
                <a:cubicBezTo>
                  <a:pt x="103207" y="16179"/>
                  <a:pt x="108360" y="15355"/>
                  <a:pt x="112044" y="1803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22464" y="2336643"/>
            <a:ext cx="3231728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against overfitting</a:t>
            </a: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ensemble averaging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09292" y="2675833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12018" y="18060"/>
                </a:moveTo>
                <a:cubicBezTo>
                  <a:pt x="115702" y="20739"/>
                  <a:pt x="116527" y="25892"/>
                  <a:pt x="113847" y="29576"/>
                </a:cubicBezTo>
                <a:lnTo>
                  <a:pt x="47894" y="120262"/>
                </a:lnTo>
                <a:cubicBezTo>
                  <a:pt x="46477" y="122220"/>
                  <a:pt x="44287" y="123431"/>
                  <a:pt x="41865" y="123637"/>
                </a:cubicBezTo>
                <a:cubicBezTo>
                  <a:pt x="39443" y="123843"/>
                  <a:pt x="37099" y="122942"/>
                  <a:pt x="35399" y="121241"/>
                </a:cubicBezTo>
                <a:lnTo>
                  <a:pt x="2422" y="88265"/>
                </a:lnTo>
                <a:cubicBezTo>
                  <a:pt x="-799" y="85044"/>
                  <a:pt x="-799" y="79814"/>
                  <a:pt x="2422" y="76594"/>
                </a:cubicBezTo>
                <a:cubicBezTo>
                  <a:pt x="5642" y="73373"/>
                  <a:pt x="10872" y="73373"/>
                  <a:pt x="14092" y="76594"/>
                </a:cubicBezTo>
                <a:lnTo>
                  <a:pt x="40242" y="102743"/>
                </a:lnTo>
                <a:lnTo>
                  <a:pt x="100528" y="19863"/>
                </a:lnTo>
                <a:cubicBezTo>
                  <a:pt x="103207" y="16179"/>
                  <a:pt x="108360" y="15355"/>
                  <a:pt x="112044" y="1803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722464" y="2638145"/>
            <a:ext cx="277947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feature importance</a:t>
            </a: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interpretability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09292" y="2977335"/>
            <a:ext cx="115419" cy="131907"/>
          </a:xfrm>
          <a:custGeom>
            <a:avLst/>
            <a:gdLst/>
            <a:ahLst/>
            <a:cxnLst/>
            <a:rect l="l" t="t" r="r" b="b"/>
            <a:pathLst>
              <a:path w="115419" h="131907">
                <a:moveTo>
                  <a:pt x="112018" y="18060"/>
                </a:moveTo>
                <a:cubicBezTo>
                  <a:pt x="115702" y="20739"/>
                  <a:pt x="116527" y="25892"/>
                  <a:pt x="113847" y="29576"/>
                </a:cubicBezTo>
                <a:lnTo>
                  <a:pt x="47894" y="120262"/>
                </a:lnTo>
                <a:cubicBezTo>
                  <a:pt x="46477" y="122220"/>
                  <a:pt x="44287" y="123431"/>
                  <a:pt x="41865" y="123637"/>
                </a:cubicBezTo>
                <a:cubicBezTo>
                  <a:pt x="39443" y="123843"/>
                  <a:pt x="37099" y="122942"/>
                  <a:pt x="35399" y="121241"/>
                </a:cubicBezTo>
                <a:lnTo>
                  <a:pt x="2422" y="88265"/>
                </a:lnTo>
                <a:cubicBezTo>
                  <a:pt x="-799" y="85044"/>
                  <a:pt x="-799" y="79814"/>
                  <a:pt x="2422" y="76594"/>
                </a:cubicBezTo>
                <a:cubicBezTo>
                  <a:pt x="5642" y="73373"/>
                  <a:pt x="10872" y="73373"/>
                  <a:pt x="14092" y="76594"/>
                </a:cubicBezTo>
                <a:lnTo>
                  <a:pt x="40242" y="102743"/>
                </a:lnTo>
                <a:lnTo>
                  <a:pt x="100528" y="19863"/>
                </a:lnTo>
                <a:cubicBezTo>
                  <a:pt x="103207" y="16179"/>
                  <a:pt x="108360" y="15355"/>
                  <a:pt x="112044" y="1803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722464" y="2939648"/>
            <a:ext cx="262872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 well with mixed</a:t>
            </a:r>
            <a:r>
              <a:rPr lang="en-US" sz="1039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 types and scales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31453" y="3429589"/>
            <a:ext cx="4484847" cy="1658263"/>
          </a:xfrm>
          <a:custGeom>
            <a:avLst/>
            <a:gdLst/>
            <a:ahLst/>
            <a:cxnLst/>
            <a:rect l="l" t="t" r="r" b="b"/>
            <a:pathLst>
              <a:path w="4484847" h="1658263">
                <a:moveTo>
                  <a:pt x="113060" y="0"/>
                </a:moveTo>
                <a:lnTo>
                  <a:pt x="4371787" y="0"/>
                </a:lnTo>
                <a:cubicBezTo>
                  <a:pt x="4434228" y="0"/>
                  <a:pt x="4484847" y="50619"/>
                  <a:pt x="4484847" y="113060"/>
                </a:cubicBezTo>
                <a:lnTo>
                  <a:pt x="4484847" y="1545202"/>
                </a:lnTo>
                <a:cubicBezTo>
                  <a:pt x="4484847" y="1607644"/>
                  <a:pt x="4434228" y="1658263"/>
                  <a:pt x="4371787" y="1658263"/>
                </a:cubicBezTo>
                <a:lnTo>
                  <a:pt x="113060" y="1658263"/>
                </a:lnTo>
                <a:cubicBezTo>
                  <a:pt x="50619" y="1658263"/>
                  <a:pt x="0" y="1607644"/>
                  <a:pt x="0" y="1545202"/>
                </a:cubicBezTo>
                <a:lnTo>
                  <a:pt x="0" y="113060"/>
                </a:lnTo>
                <a:cubicBezTo>
                  <a:pt x="0" y="50619"/>
                  <a:pt x="50619" y="0"/>
                  <a:pt x="11306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82204" y="3580340"/>
            <a:ext cx="4268142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Configuration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82204" y="3957218"/>
            <a:ext cx="72549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Estimators: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23198" y="3957218"/>
            <a:ext cx="61242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 trees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82204" y="4221032"/>
            <a:ext cx="72549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Depth: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68541" y="4221032"/>
            <a:ext cx="56531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levels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82204" y="4484847"/>
            <a:ext cx="791444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Set: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11930" y="4484847"/>
            <a:ext cx="101757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1,789 customers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82204" y="4748662"/>
            <a:ext cx="57473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Set: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9554" y="4748662"/>
            <a:ext cx="93277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447 customers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6878" y="5238603"/>
            <a:ext cx="11438244" cy="1620575"/>
          </a:xfrm>
          <a:custGeom>
            <a:avLst/>
            <a:gdLst/>
            <a:ahLst/>
            <a:cxnLst/>
            <a:rect l="l" t="t" r="r" b="b"/>
            <a:pathLst>
              <a:path w="11438244" h="1620575">
                <a:moveTo>
                  <a:pt x="113068" y="0"/>
                </a:moveTo>
                <a:lnTo>
                  <a:pt x="11325177" y="0"/>
                </a:lnTo>
                <a:cubicBezTo>
                  <a:pt x="11387622" y="0"/>
                  <a:pt x="11438244" y="50622"/>
                  <a:pt x="11438244" y="113068"/>
                </a:cubicBezTo>
                <a:lnTo>
                  <a:pt x="11438244" y="1507507"/>
                </a:lnTo>
                <a:cubicBezTo>
                  <a:pt x="11438244" y="1569953"/>
                  <a:pt x="11387622" y="1620575"/>
                  <a:pt x="11325177" y="1620575"/>
                </a:cubicBezTo>
                <a:lnTo>
                  <a:pt x="113068" y="1620575"/>
                </a:lnTo>
                <a:cubicBezTo>
                  <a:pt x="50622" y="1620575"/>
                  <a:pt x="0" y="1569953"/>
                  <a:pt x="0" y="1507507"/>
                </a:cubicBezTo>
                <a:lnTo>
                  <a:pt x="0" y="113068"/>
                </a:lnTo>
                <a:cubicBezTo>
                  <a:pt x="0" y="50664"/>
                  <a:pt x="50664" y="0"/>
                  <a:pt x="1130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6532" dist="3768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7629" y="5389354"/>
            <a:ext cx="1122153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Predictive Features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7629" y="5766232"/>
            <a:ext cx="3608606" cy="942195"/>
          </a:xfrm>
          <a:custGeom>
            <a:avLst/>
            <a:gdLst/>
            <a:ahLst/>
            <a:cxnLst/>
            <a:rect l="l" t="t" r="r" b="b"/>
            <a:pathLst>
              <a:path w="3608606" h="942195">
                <a:moveTo>
                  <a:pt x="75376" y="0"/>
                </a:moveTo>
                <a:lnTo>
                  <a:pt x="3533230" y="0"/>
                </a:lnTo>
                <a:cubicBezTo>
                  <a:pt x="3574859" y="0"/>
                  <a:pt x="3608606" y="33747"/>
                  <a:pt x="3608606" y="75376"/>
                </a:cubicBezTo>
                <a:lnTo>
                  <a:pt x="3608606" y="866819"/>
                </a:lnTo>
                <a:cubicBezTo>
                  <a:pt x="3608606" y="908448"/>
                  <a:pt x="3574859" y="942195"/>
                  <a:pt x="3533230" y="942195"/>
                </a:cubicBezTo>
                <a:lnTo>
                  <a:pt x="75376" y="942195"/>
                </a:lnTo>
                <a:cubicBezTo>
                  <a:pt x="33747" y="942195"/>
                  <a:pt x="0" y="908448"/>
                  <a:pt x="0" y="86681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29" name="Text 27"/>
          <p:cNvSpPr/>
          <p:nvPr/>
        </p:nvSpPr>
        <p:spPr>
          <a:xfrm>
            <a:off x="607716" y="5879295"/>
            <a:ext cx="344843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0028" y="6105422"/>
            <a:ext cx="3523808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26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25.9%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427" y="6444612"/>
            <a:ext cx="3439011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important predictor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90755" y="5766232"/>
            <a:ext cx="3608606" cy="942195"/>
          </a:xfrm>
          <a:custGeom>
            <a:avLst/>
            <a:gdLst/>
            <a:ahLst/>
            <a:cxnLst/>
            <a:rect l="l" t="t" r="r" b="b"/>
            <a:pathLst>
              <a:path w="3608606" h="942195">
                <a:moveTo>
                  <a:pt x="75376" y="0"/>
                </a:moveTo>
                <a:lnTo>
                  <a:pt x="3533230" y="0"/>
                </a:lnTo>
                <a:cubicBezTo>
                  <a:pt x="3574859" y="0"/>
                  <a:pt x="3608606" y="33747"/>
                  <a:pt x="3608606" y="75376"/>
                </a:cubicBezTo>
                <a:lnTo>
                  <a:pt x="3608606" y="866819"/>
                </a:lnTo>
                <a:cubicBezTo>
                  <a:pt x="3608606" y="908448"/>
                  <a:pt x="3574859" y="942195"/>
                  <a:pt x="3533230" y="942195"/>
                </a:cubicBezTo>
                <a:lnTo>
                  <a:pt x="75376" y="942195"/>
                </a:lnTo>
                <a:cubicBezTo>
                  <a:pt x="33747" y="942195"/>
                  <a:pt x="0" y="908448"/>
                  <a:pt x="0" y="86681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4370841" y="5879295"/>
            <a:ext cx="344843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Spent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33154" y="6105422"/>
            <a:ext cx="3523808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26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25.4%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75552" y="6444612"/>
            <a:ext cx="3439011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spending behavior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53881" y="5766232"/>
            <a:ext cx="3608606" cy="942195"/>
          </a:xfrm>
          <a:custGeom>
            <a:avLst/>
            <a:gdLst/>
            <a:ahLst/>
            <a:cxnLst/>
            <a:rect l="l" t="t" r="r" b="b"/>
            <a:pathLst>
              <a:path w="3608606" h="942195">
                <a:moveTo>
                  <a:pt x="75376" y="0"/>
                </a:moveTo>
                <a:lnTo>
                  <a:pt x="3533230" y="0"/>
                </a:lnTo>
                <a:cubicBezTo>
                  <a:pt x="3574859" y="0"/>
                  <a:pt x="3608606" y="33747"/>
                  <a:pt x="3608606" y="75376"/>
                </a:cubicBezTo>
                <a:lnTo>
                  <a:pt x="3608606" y="866819"/>
                </a:lnTo>
                <a:cubicBezTo>
                  <a:pt x="3608606" y="908448"/>
                  <a:pt x="3574859" y="942195"/>
                  <a:pt x="3533230" y="942195"/>
                </a:cubicBezTo>
                <a:lnTo>
                  <a:pt x="75376" y="942195"/>
                </a:lnTo>
                <a:cubicBezTo>
                  <a:pt x="33747" y="942195"/>
                  <a:pt x="0" y="908448"/>
                  <a:pt x="0" y="866819"/>
                </a:cubicBezTo>
                <a:lnTo>
                  <a:pt x="0" y="75376"/>
                </a:lnTo>
                <a:cubicBezTo>
                  <a:pt x="0" y="33775"/>
                  <a:pt x="33775" y="0"/>
                  <a:pt x="75376" y="0"/>
                </a:cubicBez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37" name="Text 35"/>
          <p:cNvSpPr/>
          <p:nvPr/>
        </p:nvSpPr>
        <p:spPr>
          <a:xfrm>
            <a:off x="8133967" y="5879295"/>
            <a:ext cx="344843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9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96279" y="6105422"/>
            <a:ext cx="3523808" cy="339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26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21.7%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38678" y="6444612"/>
            <a:ext cx="3439011" cy="150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9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Days since last purchase</a:t>
            </a:r>
            <a:endParaRPr lang="en-US" sz="1600" dirty="0"/>
          </a:p>
        </p:txBody>
      </p:sp>
      <p:pic>
        <p:nvPicPr>
          <p:cNvPr id="40" name="Image 0" descr="https://kimi-img.moonshot.cn/pub/slides/26-02-14-19:36:03-d685s8oi2d85hqu5s4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16" y="1645974"/>
            <a:ext cx="6442681" cy="33034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Evaluation: Performance Metrics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multiple algorithms to select the best performer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5638800" cy="3771900"/>
          </a:xfrm>
          <a:custGeom>
            <a:avLst/>
            <a:gdLst/>
            <a:ahLst/>
            <a:cxnLst/>
            <a:rect l="l" t="t" r="r" b="b"/>
            <a:pathLst>
              <a:path w="5638800" h="3771900">
                <a:moveTo>
                  <a:pt x="114289" y="0"/>
                </a:moveTo>
                <a:lnTo>
                  <a:pt x="5524511" y="0"/>
                </a:lnTo>
                <a:cubicBezTo>
                  <a:pt x="5587589" y="0"/>
                  <a:pt x="5638800" y="51211"/>
                  <a:pt x="5638800" y="114289"/>
                </a:cubicBezTo>
                <a:lnTo>
                  <a:pt x="5638800" y="3657611"/>
                </a:lnTo>
                <a:cubicBezTo>
                  <a:pt x="5638800" y="3720731"/>
                  <a:pt x="5587631" y="3771900"/>
                  <a:pt x="5524511" y="3771900"/>
                </a:cubicBezTo>
                <a:lnTo>
                  <a:pt x="114289" y="3771900"/>
                </a:lnTo>
                <a:cubicBezTo>
                  <a:pt x="51211" y="3771900"/>
                  <a:pt x="0" y="3720689"/>
                  <a:pt x="0" y="36576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3400" y="16764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Comparison</a:t>
            </a:r>
            <a:endParaRPr lang="en-US" sz="1600" dirty="0"/>
          </a:p>
        </p:txBody>
      </p:sp>
      <p:pic>
        <p:nvPicPr>
          <p:cNvPr id="7" name="Image 0" descr="https://kimi-img.moonshot.cn/pub/slides/okc/gu7t4xhhkfljq/charts/model_comparison.png"/>
          <p:cNvPicPr>
            <a:picLocks noChangeAspect="1"/>
          </p:cNvPicPr>
          <p:nvPr/>
        </p:nvPicPr>
        <p:blipFill>
          <a:blip r:embed="rId3"/>
          <a:srcRect t="6065" b="6065"/>
          <a:stretch/>
        </p:blipFill>
        <p:spPr>
          <a:xfrm>
            <a:off x="533400" y="2019300"/>
            <a:ext cx="533400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172200" y="1524000"/>
            <a:ext cx="5638800" cy="3771900"/>
          </a:xfrm>
          <a:custGeom>
            <a:avLst/>
            <a:gdLst/>
            <a:ahLst/>
            <a:cxnLst/>
            <a:rect l="l" t="t" r="r" b="b"/>
            <a:pathLst>
              <a:path w="5638800" h="3771900">
                <a:moveTo>
                  <a:pt x="114289" y="0"/>
                </a:moveTo>
                <a:lnTo>
                  <a:pt x="5524511" y="0"/>
                </a:lnTo>
                <a:cubicBezTo>
                  <a:pt x="5587589" y="0"/>
                  <a:pt x="5638800" y="51211"/>
                  <a:pt x="5638800" y="114289"/>
                </a:cubicBezTo>
                <a:lnTo>
                  <a:pt x="5638800" y="3657611"/>
                </a:lnTo>
                <a:cubicBezTo>
                  <a:pt x="5638800" y="3720731"/>
                  <a:pt x="5587631" y="3771900"/>
                  <a:pt x="5524511" y="3771900"/>
                </a:cubicBezTo>
                <a:lnTo>
                  <a:pt x="114289" y="3771900"/>
                </a:lnTo>
                <a:cubicBezTo>
                  <a:pt x="51211" y="3771900"/>
                  <a:pt x="0" y="3720689"/>
                  <a:pt x="0" y="36576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24600" y="16764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Metrics Table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28410" y="2061210"/>
            <a:ext cx="5322570" cy="1722120"/>
          </a:xfrm>
          <a:custGeom>
            <a:avLst/>
            <a:gdLst/>
            <a:ahLst/>
            <a:cxnLst/>
            <a:rect l="l" t="t" r="r" b="b"/>
            <a:pathLst>
              <a:path w="5322570" h="1722120">
                <a:moveTo>
                  <a:pt x="76204" y="0"/>
                </a:moveTo>
                <a:lnTo>
                  <a:pt x="5246366" y="0"/>
                </a:lnTo>
                <a:cubicBezTo>
                  <a:pt x="5288452" y="0"/>
                  <a:pt x="5322570" y="34118"/>
                  <a:pt x="5322570" y="76204"/>
                </a:cubicBezTo>
                <a:lnTo>
                  <a:pt x="5322570" y="1645916"/>
                </a:lnTo>
                <a:cubicBezTo>
                  <a:pt x="5322570" y="1688002"/>
                  <a:pt x="5288452" y="1722120"/>
                  <a:pt x="5246366" y="1722120"/>
                </a:cubicBezTo>
                <a:lnTo>
                  <a:pt x="76204" y="1722120"/>
                </a:lnTo>
                <a:cubicBezTo>
                  <a:pt x="34118" y="1722120"/>
                  <a:pt x="0" y="1688002"/>
                  <a:pt x="0" y="16459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2220" y="2065023"/>
          <a:ext cx="5314950" cy="1714500"/>
        </p:xfrm>
        <a:graphic>
          <a:graphicData uri="http://schemas.openxmlformats.org/drawingml/2006/table">
            <a:tbl>
              <a:tblPr/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Precision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Recall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F1-Score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86.6%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64.0%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23.9%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34.8%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Logistic Regression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86.6%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65.2%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22.4%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33.3%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SVM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85.0%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Naive Bayes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86.8%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59.5%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37.3%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33415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45.9%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324600" y="3901441"/>
            <a:ext cx="5334000" cy="609600"/>
          </a:xfrm>
          <a:custGeom>
            <a:avLst/>
            <a:gdLst/>
            <a:ahLst/>
            <a:cxnLst/>
            <a:rect l="l" t="t" r="r" b="b"/>
            <a:pathLst>
              <a:path w="5334000" h="609600">
                <a:moveTo>
                  <a:pt x="762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533400"/>
                </a:lnTo>
                <a:cubicBezTo>
                  <a:pt x="5334000" y="575456"/>
                  <a:pt x="5299856" y="609600"/>
                  <a:pt x="5257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13" name="Text 9"/>
          <p:cNvSpPr/>
          <p:nvPr/>
        </p:nvSpPr>
        <p:spPr>
          <a:xfrm>
            <a:off x="6438900" y="4015741"/>
            <a:ext cx="517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Model:</a:t>
            </a:r>
            <a:r>
              <a:rPr lang="en-US" sz="1050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Random Forest — Best balance of interpretability, performance, and feature importance insights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81000" y="5467471"/>
            <a:ext cx="2743200" cy="1009650"/>
          </a:xfrm>
          <a:custGeom>
            <a:avLst/>
            <a:gdLst/>
            <a:ahLst/>
            <a:cxnLst/>
            <a:rect l="l" t="t" r="r" b="b"/>
            <a:pathLst>
              <a:path w="2743200" h="1009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933452"/>
                </a:lnTo>
                <a:cubicBezTo>
                  <a:pt x="2743200" y="975535"/>
                  <a:pt x="2709085" y="1009650"/>
                  <a:pt x="2667002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1000" y="5467471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2"/>
          <p:cNvSpPr/>
          <p:nvPr/>
        </p:nvSpPr>
        <p:spPr>
          <a:xfrm>
            <a:off x="500063" y="5638921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1963" y="5829421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86.6%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4825" y="6172321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correctness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276600" y="5467471"/>
            <a:ext cx="2743200" cy="1009650"/>
          </a:xfrm>
          <a:custGeom>
            <a:avLst/>
            <a:gdLst/>
            <a:ahLst/>
            <a:cxnLst/>
            <a:rect l="l" t="t" r="r" b="b"/>
            <a:pathLst>
              <a:path w="2743200" h="1009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933452"/>
                </a:lnTo>
                <a:cubicBezTo>
                  <a:pt x="2743200" y="975535"/>
                  <a:pt x="2709085" y="1009650"/>
                  <a:pt x="2667002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76600" y="5467471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7"/>
          <p:cNvSpPr/>
          <p:nvPr/>
        </p:nvSpPr>
        <p:spPr>
          <a:xfrm>
            <a:off x="3395663" y="5638921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357563" y="5829421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64.0%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3400425" y="6172321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positives / Predicted positives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172200" y="5467471"/>
            <a:ext cx="2743200" cy="1009650"/>
          </a:xfrm>
          <a:custGeom>
            <a:avLst/>
            <a:gdLst/>
            <a:ahLst/>
            <a:cxnLst/>
            <a:rect l="l" t="t" r="r" b="b"/>
            <a:pathLst>
              <a:path w="2743200" h="1009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933452"/>
                </a:lnTo>
                <a:cubicBezTo>
                  <a:pt x="2743200" y="975535"/>
                  <a:pt x="2709085" y="1009650"/>
                  <a:pt x="2667002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72200" y="5467471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6291263" y="5638921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253163" y="5829421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23.9%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296025" y="6172321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positives / Actual positives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9067800" y="5467471"/>
            <a:ext cx="2743200" cy="1009650"/>
          </a:xfrm>
          <a:custGeom>
            <a:avLst/>
            <a:gdLst/>
            <a:ahLst/>
            <a:cxnLst/>
            <a:rect l="l" t="t" r="r" b="b"/>
            <a:pathLst>
              <a:path w="2743200" h="10096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933452"/>
                </a:lnTo>
                <a:cubicBezTo>
                  <a:pt x="2743200" y="975535"/>
                  <a:pt x="2709085" y="1009650"/>
                  <a:pt x="2667002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9067800" y="5467471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1" name="Text 27"/>
          <p:cNvSpPr/>
          <p:nvPr/>
        </p:nvSpPr>
        <p:spPr>
          <a:xfrm>
            <a:off x="9186863" y="5638921"/>
            <a:ext cx="2505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9148763" y="5829421"/>
            <a:ext cx="258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34.8%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9191625" y="6172321"/>
            <a:ext cx="2495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Harmonic mean of P &amp; 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689" y="321689"/>
            <a:ext cx="11604918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kern="0" spc="44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689" y="546871"/>
            <a:ext cx="11693383" cy="321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F1-Score.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1689" y="932897"/>
            <a:ext cx="11621003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Balancing precision and recall for imbalanced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689" y="1286755"/>
            <a:ext cx="6876095" cy="4061319"/>
          </a:xfrm>
          <a:custGeom>
            <a:avLst/>
            <a:gdLst/>
            <a:ahLst/>
            <a:cxnLst/>
            <a:rect l="l" t="t" r="r" b="b"/>
            <a:pathLst>
              <a:path w="6876095" h="4061319">
                <a:moveTo>
                  <a:pt x="96497" y="0"/>
                </a:moveTo>
                <a:lnTo>
                  <a:pt x="6779598" y="0"/>
                </a:lnTo>
                <a:cubicBezTo>
                  <a:pt x="6832892" y="0"/>
                  <a:pt x="6876095" y="43203"/>
                  <a:pt x="6876095" y="96497"/>
                </a:cubicBezTo>
                <a:lnTo>
                  <a:pt x="6876095" y="3964822"/>
                </a:lnTo>
                <a:cubicBezTo>
                  <a:pt x="6876095" y="4018116"/>
                  <a:pt x="6832892" y="4061319"/>
                  <a:pt x="6779598" y="4061319"/>
                </a:cubicBezTo>
                <a:lnTo>
                  <a:pt x="96497" y="4061319"/>
                </a:lnTo>
                <a:cubicBezTo>
                  <a:pt x="43203" y="4061319"/>
                  <a:pt x="0" y="4018116"/>
                  <a:pt x="0" y="3964822"/>
                </a:cubicBezTo>
                <a:lnTo>
                  <a:pt x="0" y="96497"/>
                </a:lnTo>
                <a:cubicBezTo>
                  <a:pt x="0" y="43203"/>
                  <a:pt x="43203" y="0"/>
                  <a:pt x="964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253" dist="321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0364" y="1415430"/>
            <a:ext cx="6691124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</a:t>
            </a:r>
            <a:endParaRPr lang="en-US" sz="1600" dirty="0"/>
          </a:p>
        </p:txBody>
      </p:sp>
      <p:pic>
        <p:nvPicPr>
          <p:cNvPr id="7" name="Image 0" descr="https://kimi-img.moonshot.cn/pub/slides/okc/gu7t4xhhkfljq/charts/confusion_matrix.png"/>
          <p:cNvPicPr>
            <a:picLocks noChangeAspect="1"/>
          </p:cNvPicPr>
          <p:nvPr/>
        </p:nvPicPr>
        <p:blipFill>
          <a:blip r:embed="rId3"/>
          <a:srcRect t="30308" b="30308"/>
          <a:stretch/>
        </p:blipFill>
        <p:spPr>
          <a:xfrm>
            <a:off x="450364" y="1704950"/>
            <a:ext cx="6618744" cy="2251821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30179" y="1286755"/>
            <a:ext cx="4543852" cy="2155314"/>
          </a:xfrm>
          <a:custGeom>
            <a:avLst/>
            <a:gdLst/>
            <a:ahLst/>
            <a:cxnLst/>
            <a:rect l="l" t="t" r="r" b="b"/>
            <a:pathLst>
              <a:path w="4543852" h="2155314">
                <a:moveTo>
                  <a:pt x="96515" y="0"/>
                </a:moveTo>
                <a:lnTo>
                  <a:pt x="4447337" y="0"/>
                </a:lnTo>
                <a:cubicBezTo>
                  <a:pt x="4500641" y="0"/>
                  <a:pt x="4543852" y="43211"/>
                  <a:pt x="4543852" y="96515"/>
                </a:cubicBezTo>
                <a:lnTo>
                  <a:pt x="4543852" y="2058799"/>
                </a:lnTo>
                <a:cubicBezTo>
                  <a:pt x="4543852" y="2112103"/>
                  <a:pt x="4500641" y="2155314"/>
                  <a:pt x="4447337" y="2155314"/>
                </a:cubicBezTo>
                <a:lnTo>
                  <a:pt x="96515" y="2155314"/>
                </a:lnTo>
                <a:cubicBezTo>
                  <a:pt x="43211" y="2155314"/>
                  <a:pt x="0" y="2112103"/>
                  <a:pt x="0" y="2058799"/>
                </a:cubicBezTo>
                <a:lnTo>
                  <a:pt x="0" y="96515"/>
                </a:lnTo>
                <a:cubicBezTo>
                  <a:pt x="0" y="43247"/>
                  <a:pt x="43247" y="0"/>
                  <a:pt x="96515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7458854" y="1415430"/>
            <a:ext cx="435888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Imbalanced Dataset Challenge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58854" y="1737119"/>
            <a:ext cx="4286501" cy="611208"/>
          </a:xfrm>
          <a:custGeom>
            <a:avLst/>
            <a:gdLst/>
            <a:ahLst/>
            <a:cxnLst/>
            <a:rect l="l" t="t" r="r" b="b"/>
            <a:pathLst>
              <a:path w="4286501" h="611208">
                <a:moveTo>
                  <a:pt x="64336" y="0"/>
                </a:moveTo>
                <a:lnTo>
                  <a:pt x="4222166" y="0"/>
                </a:lnTo>
                <a:cubicBezTo>
                  <a:pt x="4257697" y="0"/>
                  <a:pt x="4286501" y="28804"/>
                  <a:pt x="4286501" y="64336"/>
                </a:cubicBezTo>
                <a:lnTo>
                  <a:pt x="4286501" y="546873"/>
                </a:lnTo>
                <a:cubicBezTo>
                  <a:pt x="4286501" y="582404"/>
                  <a:pt x="4257697" y="611208"/>
                  <a:pt x="4222166" y="611208"/>
                </a:cubicBezTo>
                <a:lnTo>
                  <a:pt x="64336" y="611208"/>
                </a:lnTo>
                <a:cubicBezTo>
                  <a:pt x="28804" y="611208"/>
                  <a:pt x="0" y="582404"/>
                  <a:pt x="0" y="546873"/>
                </a:cubicBezTo>
                <a:lnTo>
                  <a:pt x="0" y="64336"/>
                </a:lnTo>
                <a:cubicBezTo>
                  <a:pt x="0" y="28804"/>
                  <a:pt x="28804" y="0"/>
                  <a:pt x="6433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555361" y="1833625"/>
            <a:ext cx="4149784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Responses (Yes)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55361" y="1994470"/>
            <a:ext cx="4189995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14.9%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58854" y="2444736"/>
            <a:ext cx="4286501" cy="611208"/>
          </a:xfrm>
          <a:custGeom>
            <a:avLst/>
            <a:gdLst/>
            <a:ahLst/>
            <a:cxnLst/>
            <a:rect l="l" t="t" r="r" b="b"/>
            <a:pathLst>
              <a:path w="4286501" h="611208">
                <a:moveTo>
                  <a:pt x="64336" y="0"/>
                </a:moveTo>
                <a:lnTo>
                  <a:pt x="4222166" y="0"/>
                </a:lnTo>
                <a:cubicBezTo>
                  <a:pt x="4257697" y="0"/>
                  <a:pt x="4286501" y="28804"/>
                  <a:pt x="4286501" y="64336"/>
                </a:cubicBezTo>
                <a:lnTo>
                  <a:pt x="4286501" y="546873"/>
                </a:lnTo>
                <a:cubicBezTo>
                  <a:pt x="4286501" y="582404"/>
                  <a:pt x="4257697" y="611208"/>
                  <a:pt x="4222166" y="611208"/>
                </a:cubicBezTo>
                <a:lnTo>
                  <a:pt x="64336" y="611208"/>
                </a:lnTo>
                <a:cubicBezTo>
                  <a:pt x="28804" y="611208"/>
                  <a:pt x="0" y="582404"/>
                  <a:pt x="0" y="546873"/>
                </a:cubicBezTo>
                <a:lnTo>
                  <a:pt x="0" y="64336"/>
                </a:lnTo>
                <a:cubicBezTo>
                  <a:pt x="0" y="28804"/>
                  <a:pt x="28804" y="0"/>
                  <a:pt x="6433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555361" y="2541242"/>
            <a:ext cx="4149784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 Responses (No)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55361" y="2702087"/>
            <a:ext cx="4189995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85.1%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58854" y="3152349"/>
            <a:ext cx="4342797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alone can be misleading with imbalanced data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30179" y="3570544"/>
            <a:ext cx="4543852" cy="1777330"/>
          </a:xfrm>
          <a:custGeom>
            <a:avLst/>
            <a:gdLst/>
            <a:ahLst/>
            <a:cxnLst/>
            <a:rect l="l" t="t" r="r" b="b"/>
            <a:pathLst>
              <a:path w="4543852" h="1777330">
                <a:moveTo>
                  <a:pt x="96509" y="0"/>
                </a:moveTo>
                <a:lnTo>
                  <a:pt x="4447343" y="0"/>
                </a:lnTo>
                <a:cubicBezTo>
                  <a:pt x="4500644" y="0"/>
                  <a:pt x="4543852" y="43209"/>
                  <a:pt x="4543852" y="96509"/>
                </a:cubicBezTo>
                <a:lnTo>
                  <a:pt x="4543852" y="1680821"/>
                </a:lnTo>
                <a:cubicBezTo>
                  <a:pt x="4543852" y="1734121"/>
                  <a:pt x="4500644" y="1777330"/>
                  <a:pt x="4447343" y="1777330"/>
                </a:cubicBezTo>
                <a:lnTo>
                  <a:pt x="96509" y="1777330"/>
                </a:lnTo>
                <a:cubicBezTo>
                  <a:pt x="43209" y="1777330"/>
                  <a:pt x="0" y="1734121"/>
                  <a:pt x="0" y="1680821"/>
                </a:cubicBezTo>
                <a:lnTo>
                  <a:pt x="0" y="96509"/>
                </a:lnTo>
                <a:cubicBezTo>
                  <a:pt x="0" y="43209"/>
                  <a:pt x="43209" y="0"/>
                  <a:pt x="965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253" dist="321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58854" y="3699219"/>
            <a:ext cx="4358881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 Formula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58854" y="4020908"/>
            <a:ext cx="4286501" cy="418195"/>
          </a:xfrm>
          <a:custGeom>
            <a:avLst/>
            <a:gdLst/>
            <a:ahLst/>
            <a:cxnLst/>
            <a:rect l="l" t="t" r="r" b="b"/>
            <a:pathLst>
              <a:path w="4286501" h="418195">
                <a:moveTo>
                  <a:pt x="64339" y="0"/>
                </a:moveTo>
                <a:lnTo>
                  <a:pt x="4222162" y="0"/>
                </a:lnTo>
                <a:cubicBezTo>
                  <a:pt x="4257696" y="0"/>
                  <a:pt x="4286501" y="28806"/>
                  <a:pt x="4286501" y="64339"/>
                </a:cubicBezTo>
                <a:lnTo>
                  <a:pt x="4286501" y="353856"/>
                </a:lnTo>
                <a:cubicBezTo>
                  <a:pt x="4286501" y="389390"/>
                  <a:pt x="4257696" y="418195"/>
                  <a:pt x="4222162" y="418195"/>
                </a:cubicBezTo>
                <a:lnTo>
                  <a:pt x="64339" y="418195"/>
                </a:lnTo>
                <a:cubicBezTo>
                  <a:pt x="28806" y="418195"/>
                  <a:pt x="0" y="389390"/>
                  <a:pt x="0" y="353856"/>
                </a:cubicBezTo>
                <a:lnTo>
                  <a:pt x="0" y="64339"/>
                </a:lnTo>
                <a:cubicBezTo>
                  <a:pt x="0" y="28806"/>
                  <a:pt x="28806" y="0"/>
                  <a:pt x="6433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0" name="Text 17"/>
          <p:cNvSpPr/>
          <p:nvPr/>
        </p:nvSpPr>
        <p:spPr>
          <a:xfrm>
            <a:off x="7519171" y="4117415"/>
            <a:ext cx="4165868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0" dirty="0">
                <a:solidFill>
                  <a:srgbClr val="1E3A5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F1 = 2 × (P × R) / (P + R)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58854" y="4535610"/>
            <a:ext cx="538828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Precision: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424471" y="4535610"/>
            <a:ext cx="377984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64.0%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58854" y="4760792"/>
            <a:ext cx="386026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Recall: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430704" y="4760792"/>
            <a:ext cx="369942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23.9%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458854" y="4989191"/>
            <a:ext cx="4286501" cy="6434"/>
          </a:xfrm>
          <a:custGeom>
            <a:avLst/>
            <a:gdLst/>
            <a:ahLst/>
            <a:cxnLst/>
            <a:rect l="l" t="t" r="r" b="b"/>
            <a:pathLst>
              <a:path w="4286501" h="6434">
                <a:moveTo>
                  <a:pt x="0" y="0"/>
                </a:moveTo>
                <a:lnTo>
                  <a:pt x="4286501" y="0"/>
                </a:lnTo>
                <a:lnTo>
                  <a:pt x="4286501" y="6434"/>
                </a:lnTo>
                <a:lnTo>
                  <a:pt x="0" y="6434"/>
                </a:lnTo>
                <a:lnTo>
                  <a:pt x="0" y="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26" name="Text 23"/>
          <p:cNvSpPr/>
          <p:nvPr/>
        </p:nvSpPr>
        <p:spPr>
          <a:xfrm>
            <a:off x="7458854" y="5056744"/>
            <a:ext cx="522744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F1-Score: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428091" y="5056744"/>
            <a:ext cx="369942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34.8%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21689" y="5474939"/>
            <a:ext cx="11548623" cy="1383261"/>
          </a:xfrm>
          <a:custGeom>
            <a:avLst/>
            <a:gdLst/>
            <a:ahLst/>
            <a:cxnLst/>
            <a:rect l="l" t="t" r="r" b="b"/>
            <a:pathLst>
              <a:path w="11548623" h="1383261">
                <a:moveTo>
                  <a:pt x="96510" y="0"/>
                </a:moveTo>
                <a:lnTo>
                  <a:pt x="11452113" y="0"/>
                </a:lnTo>
                <a:cubicBezTo>
                  <a:pt x="11505414" y="0"/>
                  <a:pt x="11548623" y="43209"/>
                  <a:pt x="11548623" y="96510"/>
                </a:cubicBezTo>
                <a:lnTo>
                  <a:pt x="11548623" y="1286751"/>
                </a:lnTo>
                <a:cubicBezTo>
                  <a:pt x="11548623" y="1340052"/>
                  <a:pt x="11505414" y="1383261"/>
                  <a:pt x="11452113" y="1383261"/>
                </a:cubicBezTo>
                <a:lnTo>
                  <a:pt x="96510" y="1383261"/>
                </a:lnTo>
                <a:cubicBezTo>
                  <a:pt x="43209" y="1383261"/>
                  <a:pt x="0" y="1340052"/>
                  <a:pt x="0" y="1286751"/>
                </a:cubicBezTo>
                <a:lnTo>
                  <a:pt x="0" y="96510"/>
                </a:lnTo>
                <a:cubicBezTo>
                  <a:pt x="0" y="43209"/>
                  <a:pt x="43209" y="0"/>
                  <a:pt x="965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253" dist="321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50364" y="5603615"/>
            <a:ext cx="11363652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Confusion Matrix Breakdown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50364" y="5925303"/>
            <a:ext cx="2726311" cy="804222"/>
          </a:xfrm>
          <a:custGeom>
            <a:avLst/>
            <a:gdLst/>
            <a:ahLst/>
            <a:cxnLst/>
            <a:rect l="l" t="t" r="r" b="b"/>
            <a:pathLst>
              <a:path w="2726311" h="804222">
                <a:moveTo>
                  <a:pt x="64338" y="0"/>
                </a:moveTo>
                <a:lnTo>
                  <a:pt x="2661974" y="0"/>
                </a:lnTo>
                <a:cubicBezTo>
                  <a:pt x="2697506" y="0"/>
                  <a:pt x="2726311" y="28805"/>
                  <a:pt x="2726311" y="64338"/>
                </a:cubicBezTo>
                <a:lnTo>
                  <a:pt x="2726311" y="739884"/>
                </a:lnTo>
                <a:cubicBezTo>
                  <a:pt x="2726311" y="775417"/>
                  <a:pt x="2697506" y="804222"/>
                  <a:pt x="2661974" y="804222"/>
                </a:cubicBezTo>
                <a:lnTo>
                  <a:pt x="64338" y="804222"/>
                </a:lnTo>
                <a:cubicBezTo>
                  <a:pt x="28805" y="804222"/>
                  <a:pt x="0" y="775417"/>
                  <a:pt x="0" y="739884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31" name="Text 28"/>
          <p:cNvSpPr/>
          <p:nvPr/>
        </p:nvSpPr>
        <p:spPr>
          <a:xfrm>
            <a:off x="518723" y="6021810"/>
            <a:ext cx="2589594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7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Negatives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86554" y="6214823"/>
            <a:ext cx="265393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22744" y="6504343"/>
            <a:ext cx="2581551" cy="1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Correctly predicted No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306155" y="5925303"/>
            <a:ext cx="2726311" cy="804222"/>
          </a:xfrm>
          <a:custGeom>
            <a:avLst/>
            <a:gdLst/>
            <a:ahLst/>
            <a:cxnLst/>
            <a:rect l="l" t="t" r="r" b="b"/>
            <a:pathLst>
              <a:path w="2726311" h="804222">
                <a:moveTo>
                  <a:pt x="64338" y="0"/>
                </a:moveTo>
                <a:lnTo>
                  <a:pt x="2661974" y="0"/>
                </a:lnTo>
                <a:cubicBezTo>
                  <a:pt x="2697506" y="0"/>
                  <a:pt x="2726311" y="28805"/>
                  <a:pt x="2726311" y="64338"/>
                </a:cubicBezTo>
                <a:lnTo>
                  <a:pt x="2726311" y="739884"/>
                </a:lnTo>
                <a:cubicBezTo>
                  <a:pt x="2726311" y="775417"/>
                  <a:pt x="2697506" y="804222"/>
                  <a:pt x="2661974" y="804222"/>
                </a:cubicBezTo>
                <a:lnTo>
                  <a:pt x="64338" y="804222"/>
                </a:lnTo>
                <a:cubicBezTo>
                  <a:pt x="28805" y="804222"/>
                  <a:pt x="0" y="775417"/>
                  <a:pt x="0" y="739884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FEE2E2"/>
          </a:solidFill>
          <a:ln/>
        </p:spPr>
      </p:sp>
      <p:sp>
        <p:nvSpPr>
          <p:cNvPr id="35" name="Text 32"/>
          <p:cNvSpPr/>
          <p:nvPr/>
        </p:nvSpPr>
        <p:spPr>
          <a:xfrm>
            <a:off x="3374514" y="6021810"/>
            <a:ext cx="2589594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7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342345" y="6214823"/>
            <a:ext cx="265393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378535" y="6504343"/>
            <a:ext cx="2581551" cy="1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Wasted campaigns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162047" y="5925303"/>
            <a:ext cx="2726311" cy="804222"/>
          </a:xfrm>
          <a:custGeom>
            <a:avLst/>
            <a:gdLst/>
            <a:ahLst/>
            <a:cxnLst/>
            <a:rect l="l" t="t" r="r" b="b"/>
            <a:pathLst>
              <a:path w="2726311" h="804222">
                <a:moveTo>
                  <a:pt x="64338" y="0"/>
                </a:moveTo>
                <a:lnTo>
                  <a:pt x="2661974" y="0"/>
                </a:lnTo>
                <a:cubicBezTo>
                  <a:pt x="2697506" y="0"/>
                  <a:pt x="2726311" y="28805"/>
                  <a:pt x="2726311" y="64338"/>
                </a:cubicBezTo>
                <a:lnTo>
                  <a:pt x="2726311" y="739884"/>
                </a:lnTo>
                <a:cubicBezTo>
                  <a:pt x="2726311" y="775417"/>
                  <a:pt x="2697506" y="804222"/>
                  <a:pt x="2661974" y="804222"/>
                </a:cubicBezTo>
                <a:lnTo>
                  <a:pt x="64338" y="804222"/>
                </a:lnTo>
                <a:cubicBezTo>
                  <a:pt x="28805" y="804222"/>
                  <a:pt x="0" y="775417"/>
                  <a:pt x="0" y="739884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39" name="Text 36"/>
          <p:cNvSpPr/>
          <p:nvPr/>
        </p:nvSpPr>
        <p:spPr>
          <a:xfrm>
            <a:off x="6230406" y="6021810"/>
            <a:ext cx="2589594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7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Negatives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198237" y="6214823"/>
            <a:ext cx="265393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234427" y="6504343"/>
            <a:ext cx="2581551" cy="1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Missed opportunities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017939" y="5925303"/>
            <a:ext cx="2726311" cy="804222"/>
          </a:xfrm>
          <a:custGeom>
            <a:avLst/>
            <a:gdLst/>
            <a:ahLst/>
            <a:cxnLst/>
            <a:rect l="l" t="t" r="r" b="b"/>
            <a:pathLst>
              <a:path w="2726311" h="804222">
                <a:moveTo>
                  <a:pt x="64338" y="0"/>
                </a:moveTo>
                <a:lnTo>
                  <a:pt x="2661974" y="0"/>
                </a:lnTo>
                <a:cubicBezTo>
                  <a:pt x="2697506" y="0"/>
                  <a:pt x="2726311" y="28805"/>
                  <a:pt x="2726311" y="64338"/>
                </a:cubicBezTo>
                <a:lnTo>
                  <a:pt x="2726311" y="739884"/>
                </a:lnTo>
                <a:cubicBezTo>
                  <a:pt x="2726311" y="775417"/>
                  <a:pt x="2697506" y="804222"/>
                  <a:pt x="2661974" y="804222"/>
                </a:cubicBezTo>
                <a:lnTo>
                  <a:pt x="64338" y="804222"/>
                </a:lnTo>
                <a:cubicBezTo>
                  <a:pt x="28805" y="804222"/>
                  <a:pt x="0" y="775417"/>
                  <a:pt x="0" y="739884"/>
                </a:cubicBezTo>
                <a:lnTo>
                  <a:pt x="0" y="64338"/>
                </a:lnTo>
                <a:cubicBezTo>
                  <a:pt x="0" y="28829"/>
                  <a:pt x="28829" y="0"/>
                  <a:pt x="64338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43" name="Text 40"/>
          <p:cNvSpPr/>
          <p:nvPr/>
        </p:nvSpPr>
        <p:spPr>
          <a:xfrm>
            <a:off x="9086298" y="6021810"/>
            <a:ext cx="2589594" cy="160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7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 Positives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054129" y="6214823"/>
            <a:ext cx="2653931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090319" y="6504343"/>
            <a:ext cx="2581551" cy="1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Correctly predicted Yes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Dashboard: Streamlit Application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web application for real-time customer intelligence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5638800" cy="3314700"/>
          </a:xfrm>
          <a:custGeom>
            <a:avLst/>
            <a:gdLst/>
            <a:ahLst/>
            <a:cxnLst/>
            <a:rect l="l" t="t" r="r" b="b"/>
            <a:pathLst>
              <a:path w="5638800" h="3314700">
                <a:moveTo>
                  <a:pt x="114291" y="0"/>
                </a:moveTo>
                <a:lnTo>
                  <a:pt x="5524509" y="0"/>
                </a:lnTo>
                <a:cubicBezTo>
                  <a:pt x="5587588" y="0"/>
                  <a:pt x="5638800" y="51212"/>
                  <a:pt x="5638800" y="114291"/>
                </a:cubicBezTo>
                <a:lnTo>
                  <a:pt x="5638800" y="3200409"/>
                </a:lnTo>
                <a:cubicBezTo>
                  <a:pt x="5638800" y="3263530"/>
                  <a:pt x="5587630" y="3314700"/>
                  <a:pt x="5524509" y="3314700"/>
                </a:cubicBezTo>
                <a:lnTo>
                  <a:pt x="114291" y="3314700"/>
                </a:lnTo>
                <a:cubicBezTo>
                  <a:pt x="51170" y="3314700"/>
                  <a:pt x="0" y="3263530"/>
                  <a:pt x="0" y="320040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3400" y="16764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1600" dirty="0"/>
          </a:p>
        </p:txBody>
      </p:sp>
      <p:pic>
        <p:nvPicPr>
          <p:cNvPr id="7" name="Image 0" descr="https://kimi-img.moonshot.cn/pub/slides/okc/gu7t4xhhkfljq/charts/dashboard_mockup.png"/>
          <p:cNvPicPr>
            <a:picLocks noChangeAspect="1"/>
          </p:cNvPicPr>
          <p:nvPr/>
        </p:nvPicPr>
        <p:blipFill>
          <a:blip r:embed="rId3"/>
          <a:srcRect t="10488" b="10488"/>
          <a:stretch/>
        </p:blipFill>
        <p:spPr>
          <a:xfrm>
            <a:off x="533400" y="2019300"/>
            <a:ext cx="5314950" cy="2647950"/>
          </a:xfrm>
          <a:prstGeom prst="roundRect">
            <a:avLst>
              <a:gd name="adj" fmla="val 2878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172200" y="1524000"/>
            <a:ext cx="5638800" cy="1676400"/>
          </a:xfrm>
          <a:custGeom>
            <a:avLst/>
            <a:gdLst/>
            <a:ahLst/>
            <a:cxnLst/>
            <a:rect l="l" t="t" r="r" b="b"/>
            <a:pathLst>
              <a:path w="5638800" h="1676400">
                <a:moveTo>
                  <a:pt x="114297" y="0"/>
                </a:moveTo>
                <a:lnTo>
                  <a:pt x="5524503" y="0"/>
                </a:lnTo>
                <a:cubicBezTo>
                  <a:pt x="5587628" y="0"/>
                  <a:pt x="5638800" y="51172"/>
                  <a:pt x="5638800" y="114297"/>
                </a:cubicBezTo>
                <a:lnTo>
                  <a:pt x="5638800" y="1562103"/>
                </a:lnTo>
                <a:cubicBezTo>
                  <a:pt x="5638800" y="1625228"/>
                  <a:pt x="5587628" y="1676400"/>
                  <a:pt x="5524503" y="1676400"/>
                </a:cubicBezTo>
                <a:lnTo>
                  <a:pt x="114297" y="1676400"/>
                </a:lnTo>
                <a:cubicBezTo>
                  <a:pt x="51172" y="1676400"/>
                  <a:pt x="0" y="1625228"/>
                  <a:pt x="0" y="15621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6324600" y="16764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43650" y="2095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6567488" y="2057400"/>
            <a:ext cx="439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Form: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Enter customer details (Income, Spend, Age, Family, Recency)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43650" y="23622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6567488" y="2324100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Classification: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Get cluster ID and persona name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43650" y="26289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567488" y="259080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Campaign Prediction: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Likely/Unlikely to accept offer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60319" y="289560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6567488" y="285750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Insights:</a:t>
            </a:r>
            <a:r>
              <a:rPr lang="en-US" sz="10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Tailored strategy recommendations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72200" y="3352800"/>
            <a:ext cx="5638800" cy="1447800"/>
          </a:xfrm>
          <a:custGeom>
            <a:avLst/>
            <a:gdLst/>
            <a:ahLst/>
            <a:cxnLst/>
            <a:rect l="l" t="t" r="r" b="b"/>
            <a:pathLst>
              <a:path w="5638800" h="1447800">
                <a:moveTo>
                  <a:pt x="114304" y="0"/>
                </a:moveTo>
                <a:lnTo>
                  <a:pt x="5524496" y="0"/>
                </a:lnTo>
                <a:cubicBezTo>
                  <a:pt x="5587624" y="0"/>
                  <a:pt x="5638800" y="51176"/>
                  <a:pt x="5638800" y="114304"/>
                </a:cubicBezTo>
                <a:lnTo>
                  <a:pt x="5638800" y="1333496"/>
                </a:lnTo>
                <a:cubicBezTo>
                  <a:pt x="5638800" y="1396624"/>
                  <a:pt x="5587624" y="1447800"/>
                  <a:pt x="5524496" y="1447800"/>
                </a:cubicBezTo>
                <a:lnTo>
                  <a:pt x="114304" y="1447800"/>
                </a:lnTo>
                <a:cubicBezTo>
                  <a:pt x="51176" y="1447800"/>
                  <a:pt x="0" y="1396624"/>
                  <a:pt x="0" y="13334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24600" y="3505200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24600" y="3886200"/>
            <a:ext cx="2628900" cy="342900"/>
          </a:xfrm>
          <a:custGeom>
            <a:avLst/>
            <a:gdLst/>
            <a:ahLst/>
            <a:cxnLst/>
            <a:rect l="l" t="t" r="r" b="b"/>
            <a:pathLst>
              <a:path w="2628900" h="342900">
                <a:moveTo>
                  <a:pt x="76199" y="0"/>
                </a:moveTo>
                <a:lnTo>
                  <a:pt x="2552701" y="0"/>
                </a:lnTo>
                <a:cubicBezTo>
                  <a:pt x="2594784" y="0"/>
                  <a:pt x="2628900" y="34116"/>
                  <a:pt x="2628900" y="76199"/>
                </a:cubicBezTo>
                <a:lnTo>
                  <a:pt x="2628900" y="266701"/>
                </a:lnTo>
                <a:cubicBezTo>
                  <a:pt x="2628900" y="308784"/>
                  <a:pt x="2594784" y="342900"/>
                  <a:pt x="2552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6428184" y="39909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4546" y="52220"/>
                </a:moveTo>
                <a:cubicBezTo>
                  <a:pt x="112540" y="44172"/>
                  <a:pt x="108738" y="38104"/>
                  <a:pt x="100638" y="38104"/>
                </a:cubicBezTo>
                <a:lnTo>
                  <a:pt x="90194" y="38104"/>
                </a:lnTo>
                <a:lnTo>
                  <a:pt x="90194" y="50449"/>
                </a:lnTo>
                <a:cubicBezTo>
                  <a:pt x="90194" y="60034"/>
                  <a:pt x="82068" y="68107"/>
                  <a:pt x="72796" y="68107"/>
                </a:cubicBezTo>
                <a:lnTo>
                  <a:pt x="44980" y="68107"/>
                </a:lnTo>
                <a:cubicBezTo>
                  <a:pt x="37374" y="68107"/>
                  <a:pt x="31072" y="74619"/>
                  <a:pt x="31072" y="82250"/>
                </a:cubicBezTo>
                <a:lnTo>
                  <a:pt x="31072" y="108764"/>
                </a:lnTo>
                <a:cubicBezTo>
                  <a:pt x="31072" y="116317"/>
                  <a:pt x="37635" y="120744"/>
                  <a:pt x="44980" y="122906"/>
                </a:cubicBezTo>
                <a:cubicBezTo>
                  <a:pt x="53783" y="125484"/>
                  <a:pt x="62247" y="125953"/>
                  <a:pt x="72796" y="122906"/>
                </a:cubicBezTo>
                <a:cubicBezTo>
                  <a:pt x="79802" y="120874"/>
                  <a:pt x="86704" y="116785"/>
                  <a:pt x="86704" y="108764"/>
                </a:cubicBezTo>
                <a:lnTo>
                  <a:pt x="86704" y="98163"/>
                </a:lnTo>
                <a:lnTo>
                  <a:pt x="58914" y="98163"/>
                </a:lnTo>
                <a:lnTo>
                  <a:pt x="58914" y="94621"/>
                </a:lnTo>
                <a:lnTo>
                  <a:pt x="100638" y="94621"/>
                </a:lnTo>
                <a:cubicBezTo>
                  <a:pt x="108738" y="94621"/>
                  <a:pt x="111733" y="88969"/>
                  <a:pt x="114546" y="80505"/>
                </a:cubicBezTo>
                <a:cubicBezTo>
                  <a:pt x="117463" y="71780"/>
                  <a:pt x="117332" y="63393"/>
                  <a:pt x="114546" y="52220"/>
                </a:cubicBezTo>
                <a:close/>
                <a:moveTo>
                  <a:pt x="74541" y="115822"/>
                </a:moveTo>
                <a:cubicBezTo>
                  <a:pt x="72558" y="115961"/>
                  <a:pt x="70664" y="114982"/>
                  <a:pt x="69631" y="113285"/>
                </a:cubicBezTo>
                <a:cubicBezTo>
                  <a:pt x="68597" y="111588"/>
                  <a:pt x="68597" y="109456"/>
                  <a:pt x="69631" y="107758"/>
                </a:cubicBezTo>
                <a:cubicBezTo>
                  <a:pt x="70664" y="106061"/>
                  <a:pt x="72558" y="105082"/>
                  <a:pt x="74541" y="105221"/>
                </a:cubicBezTo>
                <a:cubicBezTo>
                  <a:pt x="76523" y="105082"/>
                  <a:pt x="78417" y="106061"/>
                  <a:pt x="79450" y="107758"/>
                </a:cubicBezTo>
                <a:cubicBezTo>
                  <a:pt x="80484" y="109456"/>
                  <a:pt x="80484" y="111588"/>
                  <a:pt x="79450" y="113285"/>
                </a:cubicBezTo>
                <a:cubicBezTo>
                  <a:pt x="78417" y="114982"/>
                  <a:pt x="76523" y="115961"/>
                  <a:pt x="74541" y="115822"/>
                </a:cubicBezTo>
                <a:close/>
                <a:moveTo>
                  <a:pt x="43703" y="64617"/>
                </a:moveTo>
                <a:lnTo>
                  <a:pt x="71519" y="64617"/>
                </a:lnTo>
                <a:cubicBezTo>
                  <a:pt x="79255" y="64617"/>
                  <a:pt x="85427" y="58236"/>
                  <a:pt x="85427" y="50475"/>
                </a:cubicBezTo>
                <a:lnTo>
                  <a:pt x="85427" y="23935"/>
                </a:lnTo>
                <a:cubicBezTo>
                  <a:pt x="85427" y="16382"/>
                  <a:pt x="79072" y="10731"/>
                  <a:pt x="71519" y="9454"/>
                </a:cubicBezTo>
                <a:cubicBezTo>
                  <a:pt x="62195" y="7918"/>
                  <a:pt x="52064" y="7996"/>
                  <a:pt x="43703" y="9480"/>
                </a:cubicBezTo>
                <a:cubicBezTo>
                  <a:pt x="31931" y="11564"/>
                  <a:pt x="29795" y="15913"/>
                  <a:pt x="29795" y="23961"/>
                </a:cubicBezTo>
                <a:lnTo>
                  <a:pt x="29795" y="34562"/>
                </a:lnTo>
                <a:lnTo>
                  <a:pt x="57637" y="34562"/>
                </a:lnTo>
                <a:lnTo>
                  <a:pt x="57637" y="38104"/>
                </a:lnTo>
                <a:lnTo>
                  <a:pt x="19351" y="38104"/>
                </a:lnTo>
                <a:cubicBezTo>
                  <a:pt x="11251" y="38104"/>
                  <a:pt x="4167" y="42974"/>
                  <a:pt x="1953" y="52220"/>
                </a:cubicBezTo>
                <a:cubicBezTo>
                  <a:pt x="-599" y="62820"/>
                  <a:pt x="-703" y="69436"/>
                  <a:pt x="1953" y="80505"/>
                </a:cubicBezTo>
                <a:cubicBezTo>
                  <a:pt x="3933" y="88735"/>
                  <a:pt x="8647" y="94621"/>
                  <a:pt x="16747" y="94621"/>
                </a:cubicBezTo>
                <a:lnTo>
                  <a:pt x="26305" y="94621"/>
                </a:lnTo>
                <a:lnTo>
                  <a:pt x="26305" y="81911"/>
                </a:lnTo>
                <a:cubicBezTo>
                  <a:pt x="26305" y="72717"/>
                  <a:pt x="34249" y="64617"/>
                  <a:pt x="43703" y="64617"/>
                </a:cubicBezTo>
                <a:close/>
                <a:moveTo>
                  <a:pt x="41984" y="16851"/>
                </a:moveTo>
                <a:cubicBezTo>
                  <a:pt x="44917" y="16851"/>
                  <a:pt x="47298" y="19232"/>
                  <a:pt x="47298" y="22164"/>
                </a:cubicBezTo>
                <a:cubicBezTo>
                  <a:pt x="47298" y="25097"/>
                  <a:pt x="44917" y="27477"/>
                  <a:pt x="41984" y="27477"/>
                </a:cubicBezTo>
                <a:cubicBezTo>
                  <a:pt x="39052" y="27477"/>
                  <a:pt x="36671" y="25097"/>
                  <a:pt x="36671" y="22164"/>
                </a:cubicBezTo>
                <a:cubicBezTo>
                  <a:pt x="36671" y="19232"/>
                  <a:pt x="39052" y="16851"/>
                  <a:pt x="41984" y="1685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6643688" y="396240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3.9+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029700" y="3886200"/>
            <a:ext cx="2628900" cy="342900"/>
          </a:xfrm>
          <a:custGeom>
            <a:avLst/>
            <a:gdLst/>
            <a:ahLst/>
            <a:cxnLst/>
            <a:rect l="l" t="t" r="r" b="b"/>
            <a:pathLst>
              <a:path w="2628900" h="342900">
                <a:moveTo>
                  <a:pt x="76199" y="0"/>
                </a:moveTo>
                <a:lnTo>
                  <a:pt x="2552701" y="0"/>
                </a:lnTo>
                <a:cubicBezTo>
                  <a:pt x="2594784" y="0"/>
                  <a:pt x="2628900" y="34116"/>
                  <a:pt x="2628900" y="76199"/>
                </a:cubicBezTo>
                <a:lnTo>
                  <a:pt x="2628900" y="266701"/>
                </a:lnTo>
                <a:cubicBezTo>
                  <a:pt x="2628900" y="308784"/>
                  <a:pt x="2594784" y="342900"/>
                  <a:pt x="2552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9124950" y="39909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FF4B4B"/>
          </a:solidFill>
          <a:ln/>
        </p:spPr>
      </p:sp>
      <p:sp>
        <p:nvSpPr>
          <p:cNvPr id="25" name="Text 22"/>
          <p:cNvSpPr/>
          <p:nvPr/>
        </p:nvSpPr>
        <p:spPr>
          <a:xfrm>
            <a:off x="9348788" y="39624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24600" y="4305300"/>
            <a:ext cx="2628900" cy="342900"/>
          </a:xfrm>
          <a:custGeom>
            <a:avLst/>
            <a:gdLst/>
            <a:ahLst/>
            <a:cxnLst/>
            <a:rect l="l" t="t" r="r" b="b"/>
            <a:pathLst>
              <a:path w="2628900" h="342900">
                <a:moveTo>
                  <a:pt x="76199" y="0"/>
                </a:moveTo>
                <a:lnTo>
                  <a:pt x="2552701" y="0"/>
                </a:lnTo>
                <a:cubicBezTo>
                  <a:pt x="2594784" y="0"/>
                  <a:pt x="2628900" y="34116"/>
                  <a:pt x="2628900" y="76199"/>
                </a:cubicBezTo>
                <a:lnTo>
                  <a:pt x="2628900" y="266701"/>
                </a:lnTo>
                <a:cubicBezTo>
                  <a:pt x="2628900" y="308784"/>
                  <a:pt x="2594784" y="342900"/>
                  <a:pt x="2552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7" name="Shape 24"/>
          <p:cNvSpPr/>
          <p:nvPr/>
        </p:nvSpPr>
        <p:spPr>
          <a:xfrm>
            <a:off x="6403181" y="44100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91678" y="0"/>
                </a:moveTo>
                <a:cubicBezTo>
                  <a:pt x="91678" y="-4610"/>
                  <a:pt x="87954" y="-8334"/>
                  <a:pt x="83344" y="-8334"/>
                </a:cubicBezTo>
                <a:cubicBezTo>
                  <a:pt x="78734" y="-8334"/>
                  <a:pt x="75009" y="-4610"/>
                  <a:pt x="75009" y="0"/>
                </a:cubicBezTo>
                <a:lnTo>
                  <a:pt x="75009" y="16669"/>
                </a:lnTo>
                <a:lnTo>
                  <a:pt x="50006" y="16669"/>
                </a:lnTo>
                <a:cubicBezTo>
                  <a:pt x="36202" y="16669"/>
                  <a:pt x="25003" y="27868"/>
                  <a:pt x="25003" y="41672"/>
                </a:cubicBezTo>
                <a:lnTo>
                  <a:pt x="25003" y="100013"/>
                </a:lnTo>
                <a:cubicBezTo>
                  <a:pt x="25003" y="113816"/>
                  <a:pt x="36202" y="125016"/>
                  <a:pt x="50006" y="125016"/>
                </a:cubicBezTo>
                <a:lnTo>
                  <a:pt x="116681" y="125016"/>
                </a:lnTo>
                <a:cubicBezTo>
                  <a:pt x="130485" y="125016"/>
                  <a:pt x="141684" y="113816"/>
                  <a:pt x="141684" y="100013"/>
                </a:cubicBezTo>
                <a:lnTo>
                  <a:pt x="141684" y="41672"/>
                </a:lnTo>
                <a:cubicBezTo>
                  <a:pt x="141684" y="27868"/>
                  <a:pt x="130485" y="16669"/>
                  <a:pt x="116681" y="16669"/>
                </a:cubicBezTo>
                <a:lnTo>
                  <a:pt x="91678" y="16669"/>
                </a:lnTo>
                <a:lnTo>
                  <a:pt x="91678" y="0"/>
                </a:lnTo>
                <a:close/>
                <a:moveTo>
                  <a:pt x="41672" y="95845"/>
                </a:moveTo>
                <a:cubicBezTo>
                  <a:pt x="41672" y="92381"/>
                  <a:pt x="44459" y="89595"/>
                  <a:pt x="47923" y="89595"/>
                </a:cubicBezTo>
                <a:lnTo>
                  <a:pt x="56257" y="89595"/>
                </a:lnTo>
                <a:cubicBezTo>
                  <a:pt x="59721" y="89595"/>
                  <a:pt x="62508" y="92381"/>
                  <a:pt x="62508" y="95845"/>
                </a:cubicBezTo>
                <a:cubicBezTo>
                  <a:pt x="62508" y="99309"/>
                  <a:pt x="59721" y="102096"/>
                  <a:pt x="56257" y="102096"/>
                </a:cubicBezTo>
                <a:lnTo>
                  <a:pt x="47923" y="102096"/>
                </a:lnTo>
                <a:cubicBezTo>
                  <a:pt x="44459" y="102096"/>
                  <a:pt x="41672" y="99309"/>
                  <a:pt x="41672" y="95845"/>
                </a:cubicBezTo>
                <a:close/>
                <a:moveTo>
                  <a:pt x="72926" y="95845"/>
                </a:moveTo>
                <a:cubicBezTo>
                  <a:pt x="72926" y="92381"/>
                  <a:pt x="75713" y="89595"/>
                  <a:pt x="79177" y="89595"/>
                </a:cubicBezTo>
                <a:lnTo>
                  <a:pt x="87511" y="89595"/>
                </a:lnTo>
                <a:cubicBezTo>
                  <a:pt x="90975" y="89595"/>
                  <a:pt x="93762" y="92381"/>
                  <a:pt x="93762" y="95845"/>
                </a:cubicBezTo>
                <a:cubicBezTo>
                  <a:pt x="93762" y="99309"/>
                  <a:pt x="90975" y="102096"/>
                  <a:pt x="87511" y="102096"/>
                </a:cubicBezTo>
                <a:lnTo>
                  <a:pt x="79177" y="102096"/>
                </a:lnTo>
                <a:cubicBezTo>
                  <a:pt x="75713" y="102096"/>
                  <a:pt x="72926" y="99309"/>
                  <a:pt x="72926" y="95845"/>
                </a:cubicBezTo>
                <a:close/>
                <a:moveTo>
                  <a:pt x="104180" y="95845"/>
                </a:moveTo>
                <a:cubicBezTo>
                  <a:pt x="104180" y="92381"/>
                  <a:pt x="106966" y="89595"/>
                  <a:pt x="110430" y="89595"/>
                </a:cubicBezTo>
                <a:lnTo>
                  <a:pt x="118765" y="89595"/>
                </a:lnTo>
                <a:cubicBezTo>
                  <a:pt x="122229" y="89595"/>
                  <a:pt x="125016" y="92381"/>
                  <a:pt x="125016" y="95845"/>
                </a:cubicBezTo>
                <a:cubicBezTo>
                  <a:pt x="125016" y="99309"/>
                  <a:pt x="122229" y="102096"/>
                  <a:pt x="118765" y="102096"/>
                </a:cubicBezTo>
                <a:lnTo>
                  <a:pt x="110430" y="102096"/>
                </a:lnTo>
                <a:cubicBezTo>
                  <a:pt x="106966" y="102096"/>
                  <a:pt x="104180" y="99309"/>
                  <a:pt x="104180" y="95845"/>
                </a:cubicBezTo>
                <a:close/>
                <a:moveTo>
                  <a:pt x="58341" y="45839"/>
                </a:moveTo>
                <a:cubicBezTo>
                  <a:pt x="65240" y="45839"/>
                  <a:pt x="70842" y="51441"/>
                  <a:pt x="70842" y="58341"/>
                </a:cubicBezTo>
                <a:cubicBezTo>
                  <a:pt x="70842" y="65240"/>
                  <a:pt x="65240" y="70842"/>
                  <a:pt x="58341" y="70842"/>
                </a:cubicBezTo>
                <a:cubicBezTo>
                  <a:pt x="51441" y="70842"/>
                  <a:pt x="45839" y="65240"/>
                  <a:pt x="45839" y="58341"/>
                </a:cubicBezTo>
                <a:cubicBezTo>
                  <a:pt x="45839" y="51441"/>
                  <a:pt x="51441" y="45839"/>
                  <a:pt x="58341" y="45839"/>
                </a:cubicBezTo>
                <a:close/>
                <a:moveTo>
                  <a:pt x="95845" y="58341"/>
                </a:moveTo>
                <a:cubicBezTo>
                  <a:pt x="95845" y="51441"/>
                  <a:pt x="101447" y="45839"/>
                  <a:pt x="108347" y="45839"/>
                </a:cubicBezTo>
                <a:cubicBezTo>
                  <a:pt x="115247" y="45839"/>
                  <a:pt x="120848" y="51441"/>
                  <a:pt x="120848" y="58341"/>
                </a:cubicBezTo>
                <a:cubicBezTo>
                  <a:pt x="120848" y="65240"/>
                  <a:pt x="115247" y="70842"/>
                  <a:pt x="108347" y="70842"/>
                </a:cubicBezTo>
                <a:cubicBezTo>
                  <a:pt x="101447" y="70842"/>
                  <a:pt x="95845" y="65240"/>
                  <a:pt x="95845" y="58341"/>
                </a:cubicBezTo>
                <a:close/>
                <a:moveTo>
                  <a:pt x="16669" y="58341"/>
                </a:moveTo>
                <a:cubicBezTo>
                  <a:pt x="16669" y="53731"/>
                  <a:pt x="12944" y="50006"/>
                  <a:pt x="8334" y="50006"/>
                </a:cubicBezTo>
                <a:cubicBezTo>
                  <a:pt x="3724" y="50006"/>
                  <a:pt x="0" y="53731"/>
                  <a:pt x="0" y="58341"/>
                </a:cubicBezTo>
                <a:lnTo>
                  <a:pt x="0" y="83344"/>
                </a:lnTo>
                <a:cubicBezTo>
                  <a:pt x="0" y="87954"/>
                  <a:pt x="3724" y="91678"/>
                  <a:pt x="8334" y="91678"/>
                </a:cubicBezTo>
                <a:cubicBezTo>
                  <a:pt x="12944" y="91678"/>
                  <a:pt x="16669" y="87954"/>
                  <a:pt x="16669" y="83344"/>
                </a:cubicBezTo>
                <a:lnTo>
                  <a:pt x="16669" y="58341"/>
                </a:lnTo>
                <a:close/>
                <a:moveTo>
                  <a:pt x="158353" y="50006"/>
                </a:moveTo>
                <a:cubicBezTo>
                  <a:pt x="153743" y="50006"/>
                  <a:pt x="150019" y="53731"/>
                  <a:pt x="150019" y="58341"/>
                </a:cubicBezTo>
                <a:lnTo>
                  <a:pt x="150019" y="83344"/>
                </a:lnTo>
                <a:cubicBezTo>
                  <a:pt x="150019" y="87954"/>
                  <a:pt x="153743" y="91678"/>
                  <a:pt x="158353" y="91678"/>
                </a:cubicBezTo>
                <a:cubicBezTo>
                  <a:pt x="162963" y="91678"/>
                  <a:pt x="166688" y="87954"/>
                  <a:pt x="166688" y="83344"/>
                </a:cubicBezTo>
                <a:lnTo>
                  <a:pt x="166688" y="58341"/>
                </a:lnTo>
                <a:cubicBezTo>
                  <a:pt x="166688" y="53731"/>
                  <a:pt x="162963" y="50006"/>
                  <a:pt x="158353" y="50006"/>
                </a:cubicBezTo>
                <a:close/>
              </a:path>
            </a:pathLst>
          </a:custGeom>
          <a:solidFill>
            <a:srgbClr val="F7931E"/>
          </a:solidFill>
          <a:ln/>
        </p:spPr>
      </p:sp>
      <p:sp>
        <p:nvSpPr>
          <p:cNvPr id="28" name="Text 25"/>
          <p:cNvSpPr/>
          <p:nvPr/>
        </p:nvSpPr>
        <p:spPr>
          <a:xfrm>
            <a:off x="6643688" y="438150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029700" y="4305300"/>
            <a:ext cx="2628900" cy="342900"/>
          </a:xfrm>
          <a:custGeom>
            <a:avLst/>
            <a:gdLst/>
            <a:ahLst/>
            <a:cxnLst/>
            <a:rect l="l" t="t" r="r" b="b"/>
            <a:pathLst>
              <a:path w="2628900" h="342900">
                <a:moveTo>
                  <a:pt x="76199" y="0"/>
                </a:moveTo>
                <a:lnTo>
                  <a:pt x="2552701" y="0"/>
                </a:lnTo>
                <a:cubicBezTo>
                  <a:pt x="2594784" y="0"/>
                  <a:pt x="2628900" y="34116"/>
                  <a:pt x="2628900" y="76199"/>
                </a:cubicBezTo>
                <a:lnTo>
                  <a:pt x="2628900" y="266701"/>
                </a:lnTo>
                <a:cubicBezTo>
                  <a:pt x="2628900" y="308784"/>
                  <a:pt x="2594784" y="342900"/>
                  <a:pt x="2552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0" name="Shape 27"/>
          <p:cNvSpPr/>
          <p:nvPr/>
        </p:nvSpPr>
        <p:spPr>
          <a:xfrm>
            <a:off x="9133284" y="4410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45136"/>
                </a:lnTo>
                <a:cubicBezTo>
                  <a:pt x="116681" y="40708"/>
                  <a:pt x="114936" y="36463"/>
                  <a:pt x="111811" y="33337"/>
                </a:cubicBezTo>
                <a:lnTo>
                  <a:pt x="91678" y="13205"/>
                </a:lnTo>
                <a:cubicBezTo>
                  <a:pt x="88553" y="10079"/>
                  <a:pt x="84307" y="8334"/>
                  <a:pt x="79880" y="8334"/>
                </a:cubicBezTo>
                <a:lnTo>
                  <a:pt x="16669" y="8334"/>
                </a:lnTo>
                <a:close/>
                <a:moveTo>
                  <a:pt x="25003" y="33337"/>
                </a:moveTo>
                <a:cubicBezTo>
                  <a:pt x="25003" y="28728"/>
                  <a:pt x="28728" y="25003"/>
                  <a:pt x="33337" y="25003"/>
                </a:cubicBezTo>
                <a:lnTo>
                  <a:pt x="75009" y="25003"/>
                </a:lnTo>
                <a:cubicBezTo>
                  <a:pt x="79619" y="25003"/>
                  <a:pt x="83344" y="28728"/>
                  <a:pt x="83344" y="33337"/>
                </a:cubicBezTo>
                <a:lnTo>
                  <a:pt x="83344" y="50006"/>
                </a:lnTo>
                <a:cubicBezTo>
                  <a:pt x="83344" y="54616"/>
                  <a:pt x="79619" y="58341"/>
                  <a:pt x="75009" y="58341"/>
                </a:cubicBezTo>
                <a:lnTo>
                  <a:pt x="33337" y="58341"/>
                </a:lnTo>
                <a:cubicBezTo>
                  <a:pt x="28728" y="58341"/>
                  <a:pt x="25003" y="54616"/>
                  <a:pt x="25003" y="50006"/>
                </a:cubicBezTo>
                <a:lnTo>
                  <a:pt x="25003" y="33337"/>
                </a:lnTo>
                <a:close/>
                <a:moveTo>
                  <a:pt x="58341" y="75009"/>
                </a:moveTo>
                <a:cubicBezTo>
                  <a:pt x="67540" y="75009"/>
                  <a:pt x="75009" y="82478"/>
                  <a:pt x="75009" y="91678"/>
                </a:cubicBezTo>
                <a:cubicBezTo>
                  <a:pt x="75009" y="100878"/>
                  <a:pt x="67540" y="108347"/>
                  <a:pt x="58341" y="108347"/>
                </a:cubicBezTo>
                <a:cubicBezTo>
                  <a:pt x="49141" y="108347"/>
                  <a:pt x="41672" y="100878"/>
                  <a:pt x="41672" y="91678"/>
                </a:cubicBezTo>
                <a:cubicBezTo>
                  <a:pt x="41672" y="82478"/>
                  <a:pt x="49141" y="75009"/>
                  <a:pt x="58341" y="7500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8"/>
          <p:cNvSpPr/>
          <p:nvPr/>
        </p:nvSpPr>
        <p:spPr>
          <a:xfrm>
            <a:off x="9348788" y="43815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341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joblib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81000" y="4991100"/>
            <a:ext cx="11430000" cy="1562100"/>
          </a:xfrm>
          <a:custGeom>
            <a:avLst/>
            <a:gdLst/>
            <a:ahLst/>
            <a:cxnLst/>
            <a:rect l="l" t="t" r="r" b="b"/>
            <a:pathLst>
              <a:path w="11430000" h="1562100">
                <a:moveTo>
                  <a:pt x="114299" y="0"/>
                </a:moveTo>
                <a:lnTo>
                  <a:pt x="11315701" y="0"/>
                </a:lnTo>
                <a:cubicBezTo>
                  <a:pt x="11378827" y="0"/>
                  <a:pt x="11430000" y="51173"/>
                  <a:pt x="11430000" y="114299"/>
                </a:cubicBezTo>
                <a:lnTo>
                  <a:pt x="11430000" y="1447801"/>
                </a:lnTo>
                <a:cubicBezTo>
                  <a:pt x="11430000" y="1510927"/>
                  <a:pt x="11378827" y="1562100"/>
                  <a:pt x="11315701" y="1562100"/>
                </a:cubicBezTo>
                <a:lnTo>
                  <a:pt x="114299" y="1562100"/>
                </a:lnTo>
                <a:cubicBezTo>
                  <a:pt x="51173" y="1562100"/>
                  <a:pt x="0" y="1510927"/>
                  <a:pt x="0" y="144780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33400" y="5143500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Workflow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32207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2"/>
          <p:cNvSpPr/>
          <p:nvPr/>
        </p:nvSpPr>
        <p:spPr>
          <a:xfrm>
            <a:off x="1279208" y="5524500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00063" y="6057900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Data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04825" y="62484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details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591753" y="58672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39" name="Shape 36"/>
          <p:cNvSpPr/>
          <p:nvPr/>
        </p:nvSpPr>
        <p:spPr>
          <a:xfrm>
            <a:off x="3594735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7"/>
          <p:cNvSpPr/>
          <p:nvPr/>
        </p:nvSpPr>
        <p:spPr>
          <a:xfrm>
            <a:off x="3551872" y="5524500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2772728" y="6057900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2777490" y="62484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+ Random Forest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864418" y="58672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44" name="Shape 41"/>
          <p:cNvSpPr/>
          <p:nvPr/>
        </p:nvSpPr>
        <p:spPr>
          <a:xfrm>
            <a:off x="58674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5" name="Text 42"/>
          <p:cNvSpPr/>
          <p:nvPr/>
        </p:nvSpPr>
        <p:spPr>
          <a:xfrm>
            <a:off x="5824538" y="5524500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5045393" y="6057900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Segment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050155" y="62484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 + Cluster ID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137082" y="58672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49" name="Shape 46"/>
          <p:cNvSpPr/>
          <p:nvPr/>
        </p:nvSpPr>
        <p:spPr>
          <a:xfrm>
            <a:off x="8140065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0" name="Text 47"/>
          <p:cNvSpPr/>
          <p:nvPr/>
        </p:nvSpPr>
        <p:spPr>
          <a:xfrm>
            <a:off x="8097203" y="5524500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318057" y="6057900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322820" y="62484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Campaign response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409748" y="58672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54" name="Shape 51"/>
          <p:cNvSpPr/>
          <p:nvPr/>
        </p:nvSpPr>
        <p:spPr>
          <a:xfrm>
            <a:off x="10412731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5" name="Text 52"/>
          <p:cNvSpPr/>
          <p:nvPr/>
        </p:nvSpPr>
        <p:spPr>
          <a:xfrm>
            <a:off x="10369868" y="5524500"/>
            <a:ext cx="542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9590723" y="6057900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9595485" y="6248400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A7D08-989D-6B50-AF65-37D4FECCA5C8}"/>
              </a:ext>
            </a:extLst>
          </p:cNvPr>
          <p:cNvSpPr txBox="1"/>
          <p:nvPr/>
        </p:nvSpPr>
        <p:spPr>
          <a:xfrm>
            <a:off x="2994488" y="385474"/>
            <a:ext cx="5860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Liter" panose="020B0604020202020204" charset="0"/>
              </a:rPr>
              <a:t>VISUALS OF OUTPUT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F4CF5-AE28-A12D-5B8D-142CACC015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26" t="15857" r="26531" b="7732"/>
          <a:stretch>
            <a:fillRect/>
          </a:stretch>
        </p:blipFill>
        <p:spPr>
          <a:xfrm>
            <a:off x="177281" y="1343608"/>
            <a:ext cx="5747657" cy="45906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687005-CEC6-635C-39FD-96DAFD9762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49" t="15245" r="26147" b="-1"/>
          <a:stretch>
            <a:fillRect/>
          </a:stretch>
        </p:blipFill>
        <p:spPr>
          <a:xfrm>
            <a:off x="6096000" y="1343608"/>
            <a:ext cx="5962261" cy="45906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D54345-27B0-445E-0D7F-787B712EFB52}"/>
              </a:ext>
            </a:extLst>
          </p:cNvPr>
          <p:cNvSpPr txBox="1"/>
          <p:nvPr/>
        </p:nvSpPr>
        <p:spPr>
          <a:xfrm>
            <a:off x="2412653" y="6246072"/>
            <a:ext cx="7385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50000"/>
                  </a:schemeClr>
                </a:solidFill>
                <a:latin typeface="Liter" panose="020B0604020202020204" charset="0"/>
              </a:rPr>
              <a:t>Customer belongs to Cluster 0, </a:t>
            </a:r>
            <a:r>
              <a:rPr lang="en-IN" sz="2800" b="1" dirty="0">
                <a:latin typeface="Liter" panose="020B0604020202020204" charset="0"/>
              </a:rPr>
              <a:t>Budget Family</a:t>
            </a:r>
            <a:endParaRPr lang="en-IN" sz="2800" dirty="0">
              <a:latin typeface="Li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952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989B-11DA-1E30-D165-A97B23732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EA2EE-8C73-660C-0AA0-CBE75373F2B5}"/>
              </a:ext>
            </a:extLst>
          </p:cNvPr>
          <p:cNvSpPr txBox="1"/>
          <p:nvPr/>
        </p:nvSpPr>
        <p:spPr>
          <a:xfrm>
            <a:off x="3089718" y="385474"/>
            <a:ext cx="5860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Liter" panose="020B0604020202020204" charset="0"/>
              </a:rPr>
              <a:t>VISUALS OF OUTPUT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8E0241-866C-3E7E-FAC1-ED2EF2B263C3}"/>
              </a:ext>
            </a:extLst>
          </p:cNvPr>
          <p:cNvSpPr txBox="1"/>
          <p:nvPr/>
        </p:nvSpPr>
        <p:spPr>
          <a:xfrm>
            <a:off x="2297212" y="6246072"/>
            <a:ext cx="78261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50000"/>
                  </a:schemeClr>
                </a:solidFill>
                <a:latin typeface="Liter" panose="020B0604020202020204" charset="0"/>
              </a:rPr>
              <a:t>Customer belongs to Cluster 1, </a:t>
            </a:r>
            <a:r>
              <a:rPr lang="en-IN" sz="2800" b="1" dirty="0">
                <a:latin typeface="Liter" panose="020B0604020202020204" charset="0"/>
              </a:rPr>
              <a:t>At-Risk Customer</a:t>
            </a:r>
            <a:endParaRPr lang="en-IN" sz="2800" dirty="0">
              <a:latin typeface="Liter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4DC8F-2C3F-8819-8F47-E609F3AFB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44" t="15277" r="26607" b="6766"/>
          <a:stretch>
            <a:fillRect/>
          </a:stretch>
        </p:blipFill>
        <p:spPr>
          <a:xfrm>
            <a:off x="197229" y="1343608"/>
            <a:ext cx="5662395" cy="4590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08719E-DF68-2841-603F-2C08345BDA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61" t="15053" r="26072"/>
          <a:stretch>
            <a:fillRect/>
          </a:stretch>
        </p:blipFill>
        <p:spPr>
          <a:xfrm>
            <a:off x="5999584" y="1343608"/>
            <a:ext cx="6032511" cy="459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28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8D7A-23A5-D973-EBB6-24DB81A07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90469B-E136-2EF0-6934-C8E557A85CC9}"/>
              </a:ext>
            </a:extLst>
          </p:cNvPr>
          <p:cNvSpPr txBox="1"/>
          <p:nvPr/>
        </p:nvSpPr>
        <p:spPr>
          <a:xfrm>
            <a:off x="3089718" y="385474"/>
            <a:ext cx="5860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Liter" panose="020B0604020202020204" charset="0"/>
              </a:rPr>
              <a:t>VISUALS OF OUTPUT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F426C-C03B-F5EC-3BC7-96A651D1E93E}"/>
              </a:ext>
            </a:extLst>
          </p:cNvPr>
          <p:cNvSpPr txBox="1"/>
          <p:nvPr/>
        </p:nvSpPr>
        <p:spPr>
          <a:xfrm>
            <a:off x="2297212" y="6246072"/>
            <a:ext cx="6429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50000"/>
                  </a:schemeClr>
                </a:solidFill>
                <a:latin typeface="Liter" panose="020B0604020202020204" charset="0"/>
              </a:rPr>
              <a:t>Customer belongs to Cluster 2, </a:t>
            </a:r>
            <a:r>
              <a:rPr lang="en-IN" sz="2800" b="1" dirty="0">
                <a:latin typeface="Liter" panose="020B0604020202020204" charset="0"/>
              </a:rPr>
              <a:t>VIP Elite</a:t>
            </a:r>
            <a:endParaRPr lang="en-IN" sz="2800" dirty="0">
              <a:latin typeface="Liter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F898B-58F2-E305-3577-44586A799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16" t="16915" r="25612" b="6629"/>
          <a:stretch>
            <a:fillRect/>
          </a:stretch>
        </p:blipFill>
        <p:spPr>
          <a:xfrm>
            <a:off x="138684" y="1343608"/>
            <a:ext cx="5711610" cy="4590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751546-1244-52E9-F6C1-028DCBC457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42" t="14661" r="26586"/>
          <a:stretch>
            <a:fillRect/>
          </a:stretch>
        </p:blipFill>
        <p:spPr>
          <a:xfrm>
            <a:off x="5971593" y="1343608"/>
            <a:ext cx="6109716" cy="459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00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DEE3-2F03-50D4-9A2D-8F2AEB4F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29AE9D-408C-86C0-F3C0-CFA597A4C83B}"/>
              </a:ext>
            </a:extLst>
          </p:cNvPr>
          <p:cNvSpPr txBox="1"/>
          <p:nvPr/>
        </p:nvSpPr>
        <p:spPr>
          <a:xfrm>
            <a:off x="3089718" y="385474"/>
            <a:ext cx="5860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Liter" panose="020B0604020202020204" charset="0"/>
              </a:rPr>
              <a:t>VISUALS OF OUTPUT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394D6-4998-4F4C-1031-7B50959FDB63}"/>
              </a:ext>
            </a:extLst>
          </p:cNvPr>
          <p:cNvSpPr txBox="1"/>
          <p:nvPr/>
        </p:nvSpPr>
        <p:spPr>
          <a:xfrm>
            <a:off x="2297212" y="6246072"/>
            <a:ext cx="7234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bg2">
                    <a:lumMod val="50000"/>
                  </a:schemeClr>
                </a:solidFill>
                <a:latin typeface="Liter" panose="020B0604020202020204" charset="0"/>
              </a:rPr>
              <a:t>Customer belongs to Cluster 3, </a:t>
            </a:r>
            <a:r>
              <a:rPr lang="en-IN" sz="2800" b="1" dirty="0">
                <a:latin typeface="Liter" panose="020B0604020202020204" charset="0"/>
              </a:rPr>
              <a:t>Average User</a:t>
            </a:r>
            <a:endParaRPr lang="en-IN" sz="2800" dirty="0">
              <a:latin typeface="Liter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869F0-B09D-0203-B5C9-AB21318E7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20" t="17276" r="26586" b="7104"/>
          <a:stretch>
            <a:fillRect/>
          </a:stretch>
        </p:blipFill>
        <p:spPr>
          <a:xfrm>
            <a:off x="110691" y="1343608"/>
            <a:ext cx="5702280" cy="4590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BD7A40-C59C-D3E3-51EF-7F1F07F99B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33" t="15181" r="25995"/>
          <a:stretch>
            <a:fillRect/>
          </a:stretch>
        </p:blipFill>
        <p:spPr>
          <a:xfrm>
            <a:off x="5973512" y="1343608"/>
            <a:ext cx="6061141" cy="459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600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53538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kern="0" spc="48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594732"/>
            <a:ext cx="11649745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842" y="1014542"/>
            <a:ext cx="1157103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Tailored marketing strategies for each customer persona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334" y="1399369"/>
            <a:ext cx="5658697" cy="2658801"/>
          </a:xfrm>
          <a:custGeom>
            <a:avLst/>
            <a:gdLst/>
            <a:ahLst/>
            <a:cxnLst/>
            <a:rect l="l" t="t" r="r" b="b"/>
            <a:pathLst>
              <a:path w="5658697" h="2658801">
                <a:moveTo>
                  <a:pt x="34984" y="0"/>
                </a:moveTo>
                <a:lnTo>
                  <a:pt x="5553754" y="0"/>
                </a:lnTo>
                <a:cubicBezTo>
                  <a:pt x="5611713" y="0"/>
                  <a:pt x="5658697" y="46985"/>
                  <a:pt x="5658697" y="104943"/>
                </a:cubicBezTo>
                <a:lnTo>
                  <a:pt x="5658697" y="2553858"/>
                </a:lnTo>
                <a:cubicBezTo>
                  <a:pt x="5658697" y="2611816"/>
                  <a:pt x="5611713" y="2658801"/>
                  <a:pt x="5553754" y="2658801"/>
                </a:cubicBezTo>
                <a:lnTo>
                  <a:pt x="34984" y="2658801"/>
                </a:lnTo>
                <a:cubicBezTo>
                  <a:pt x="15663" y="2658801"/>
                  <a:pt x="0" y="2643138"/>
                  <a:pt x="0" y="262381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7334" y="1399369"/>
            <a:ext cx="34984" cy="2658801"/>
          </a:xfrm>
          <a:custGeom>
            <a:avLst/>
            <a:gdLst/>
            <a:ahLst/>
            <a:cxnLst/>
            <a:rect l="l" t="t" r="r" b="b"/>
            <a:pathLst>
              <a:path w="34984" h="2658801">
                <a:moveTo>
                  <a:pt x="34984" y="0"/>
                </a:moveTo>
                <a:lnTo>
                  <a:pt x="34984" y="0"/>
                </a:lnTo>
                <a:lnTo>
                  <a:pt x="34984" y="2658801"/>
                </a:lnTo>
                <a:lnTo>
                  <a:pt x="34984" y="2658801"/>
                </a:lnTo>
                <a:cubicBezTo>
                  <a:pt x="15663" y="2658801"/>
                  <a:pt x="0" y="2643138"/>
                  <a:pt x="0" y="262381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524763" y="1539306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616597" y="1644258"/>
            <a:ext cx="236143" cy="209905"/>
          </a:xfrm>
          <a:custGeom>
            <a:avLst/>
            <a:gdLst/>
            <a:ahLst/>
            <a:cxnLst/>
            <a:rect l="l" t="t" r="r" b="b"/>
            <a:pathLst>
              <a:path w="236143" h="209905">
                <a:moveTo>
                  <a:pt x="128321" y="35749"/>
                </a:moveTo>
                <a:cubicBezTo>
                  <a:pt x="132093" y="32757"/>
                  <a:pt x="134471" y="28124"/>
                  <a:pt x="134471" y="22958"/>
                </a:cubicBezTo>
                <a:cubicBezTo>
                  <a:pt x="134471" y="13898"/>
                  <a:pt x="127132" y="6560"/>
                  <a:pt x="118072" y="6560"/>
                </a:cubicBezTo>
                <a:cubicBezTo>
                  <a:pt x="109011" y="6560"/>
                  <a:pt x="101673" y="13898"/>
                  <a:pt x="101673" y="22958"/>
                </a:cubicBezTo>
                <a:cubicBezTo>
                  <a:pt x="101673" y="28124"/>
                  <a:pt x="104092" y="32757"/>
                  <a:pt x="107822" y="35749"/>
                </a:cubicBezTo>
                <a:lnTo>
                  <a:pt x="79780" y="79862"/>
                </a:lnTo>
                <a:cubicBezTo>
                  <a:pt x="75681" y="86299"/>
                  <a:pt x="66948" y="87898"/>
                  <a:pt x="60840" y="83306"/>
                </a:cubicBezTo>
                <a:lnTo>
                  <a:pt x="36446" y="65062"/>
                </a:lnTo>
                <a:cubicBezTo>
                  <a:pt x="38291" y="62439"/>
                  <a:pt x="39357" y="59200"/>
                  <a:pt x="39357" y="55756"/>
                </a:cubicBezTo>
                <a:cubicBezTo>
                  <a:pt x="39357" y="46696"/>
                  <a:pt x="32019" y="39357"/>
                  <a:pt x="22958" y="39357"/>
                </a:cubicBezTo>
                <a:cubicBezTo>
                  <a:pt x="13898" y="39357"/>
                  <a:pt x="6560" y="46696"/>
                  <a:pt x="6560" y="55756"/>
                </a:cubicBezTo>
                <a:cubicBezTo>
                  <a:pt x="6560" y="64693"/>
                  <a:pt x="13734" y="71991"/>
                  <a:pt x="22630" y="72155"/>
                </a:cubicBezTo>
                <a:lnTo>
                  <a:pt x="35995" y="161324"/>
                </a:lnTo>
                <a:cubicBezTo>
                  <a:pt x="37922" y="174156"/>
                  <a:pt x="48951" y="183667"/>
                  <a:pt x="61947" y="183667"/>
                </a:cubicBezTo>
                <a:lnTo>
                  <a:pt x="174197" y="183667"/>
                </a:lnTo>
                <a:cubicBezTo>
                  <a:pt x="187193" y="183667"/>
                  <a:pt x="198221" y="174156"/>
                  <a:pt x="200148" y="161324"/>
                </a:cubicBezTo>
                <a:lnTo>
                  <a:pt x="213513" y="72155"/>
                </a:lnTo>
                <a:cubicBezTo>
                  <a:pt x="222409" y="71991"/>
                  <a:pt x="229584" y="64693"/>
                  <a:pt x="229584" y="55756"/>
                </a:cubicBezTo>
                <a:cubicBezTo>
                  <a:pt x="229584" y="46696"/>
                  <a:pt x="222245" y="39357"/>
                  <a:pt x="213185" y="39357"/>
                </a:cubicBezTo>
                <a:cubicBezTo>
                  <a:pt x="204125" y="39357"/>
                  <a:pt x="196786" y="46696"/>
                  <a:pt x="196786" y="55756"/>
                </a:cubicBezTo>
                <a:cubicBezTo>
                  <a:pt x="196786" y="59200"/>
                  <a:pt x="197852" y="62439"/>
                  <a:pt x="199697" y="65062"/>
                </a:cubicBezTo>
                <a:lnTo>
                  <a:pt x="175345" y="83347"/>
                </a:lnTo>
                <a:cubicBezTo>
                  <a:pt x="169236" y="87939"/>
                  <a:pt x="160504" y="86340"/>
                  <a:pt x="156404" y="79903"/>
                </a:cubicBezTo>
                <a:lnTo>
                  <a:pt x="128321" y="3574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49527" y="1626766"/>
            <a:ext cx="1425607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VIP Elite Strategy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4763" y="2064069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612224" y="2162026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76887" y="16454"/>
                </a:moveTo>
                <a:cubicBezTo>
                  <a:pt x="78704" y="13368"/>
                  <a:pt x="82005" y="11479"/>
                  <a:pt x="85568" y="11479"/>
                </a:cubicBezTo>
                <a:lnTo>
                  <a:pt x="86094" y="11479"/>
                </a:lnTo>
                <a:cubicBezTo>
                  <a:pt x="91379" y="11479"/>
                  <a:pt x="95660" y="15760"/>
                  <a:pt x="95660" y="21045"/>
                </a:cubicBezTo>
                <a:cubicBezTo>
                  <a:pt x="95660" y="26330"/>
                  <a:pt x="91379" y="30611"/>
                  <a:pt x="86094" y="30611"/>
                </a:cubicBezTo>
                <a:lnTo>
                  <a:pt x="68564" y="30611"/>
                </a:lnTo>
                <a:lnTo>
                  <a:pt x="76887" y="16454"/>
                </a:lnTo>
                <a:close/>
                <a:moveTo>
                  <a:pt x="45558" y="16454"/>
                </a:moveTo>
                <a:lnTo>
                  <a:pt x="53880" y="30611"/>
                </a:lnTo>
                <a:lnTo>
                  <a:pt x="36351" y="30611"/>
                </a:lnTo>
                <a:cubicBezTo>
                  <a:pt x="31066" y="30611"/>
                  <a:pt x="26785" y="26330"/>
                  <a:pt x="26785" y="21045"/>
                </a:cubicBezTo>
                <a:cubicBezTo>
                  <a:pt x="26785" y="15760"/>
                  <a:pt x="31066" y="11479"/>
                  <a:pt x="36351" y="11479"/>
                </a:cubicBezTo>
                <a:lnTo>
                  <a:pt x="36877" y="11479"/>
                </a:lnTo>
                <a:cubicBezTo>
                  <a:pt x="40440" y="11479"/>
                  <a:pt x="43764" y="13368"/>
                  <a:pt x="45558" y="16454"/>
                </a:cubicBezTo>
                <a:close/>
                <a:moveTo>
                  <a:pt x="66986" y="10642"/>
                </a:moveTo>
                <a:lnTo>
                  <a:pt x="61222" y="20447"/>
                </a:lnTo>
                <a:lnTo>
                  <a:pt x="55459" y="10642"/>
                </a:lnTo>
                <a:cubicBezTo>
                  <a:pt x="51585" y="4042"/>
                  <a:pt x="44506" y="0"/>
                  <a:pt x="36877" y="0"/>
                </a:cubicBezTo>
                <a:lnTo>
                  <a:pt x="36351" y="0"/>
                </a:lnTo>
                <a:cubicBezTo>
                  <a:pt x="24728" y="0"/>
                  <a:pt x="15306" y="9423"/>
                  <a:pt x="15306" y="21045"/>
                </a:cubicBezTo>
                <a:cubicBezTo>
                  <a:pt x="15306" y="24489"/>
                  <a:pt x="16143" y="27741"/>
                  <a:pt x="17601" y="30611"/>
                </a:cubicBezTo>
                <a:lnTo>
                  <a:pt x="7653" y="30611"/>
                </a:lnTo>
                <a:cubicBezTo>
                  <a:pt x="3420" y="30611"/>
                  <a:pt x="0" y="34031"/>
                  <a:pt x="0" y="38264"/>
                </a:cubicBezTo>
                <a:lnTo>
                  <a:pt x="0" y="45917"/>
                </a:lnTo>
                <a:cubicBezTo>
                  <a:pt x="0" y="50150"/>
                  <a:pt x="3420" y="53570"/>
                  <a:pt x="7653" y="53570"/>
                </a:cubicBezTo>
                <a:lnTo>
                  <a:pt x="114792" y="53570"/>
                </a:lnTo>
                <a:cubicBezTo>
                  <a:pt x="119025" y="53570"/>
                  <a:pt x="122445" y="50150"/>
                  <a:pt x="122445" y="45917"/>
                </a:cubicBezTo>
                <a:lnTo>
                  <a:pt x="122445" y="38264"/>
                </a:lnTo>
                <a:cubicBezTo>
                  <a:pt x="122445" y="34031"/>
                  <a:pt x="119025" y="30611"/>
                  <a:pt x="114792" y="30611"/>
                </a:cubicBezTo>
                <a:lnTo>
                  <a:pt x="104843" y="30611"/>
                </a:lnTo>
                <a:cubicBezTo>
                  <a:pt x="106302" y="27741"/>
                  <a:pt x="107139" y="24489"/>
                  <a:pt x="107139" y="21045"/>
                </a:cubicBezTo>
                <a:cubicBezTo>
                  <a:pt x="107139" y="9423"/>
                  <a:pt x="97717" y="0"/>
                  <a:pt x="86094" y="0"/>
                </a:cubicBezTo>
                <a:lnTo>
                  <a:pt x="85568" y="0"/>
                </a:lnTo>
                <a:cubicBezTo>
                  <a:pt x="77939" y="0"/>
                  <a:pt x="70860" y="4042"/>
                  <a:pt x="66986" y="10618"/>
                </a:cubicBezTo>
                <a:close/>
                <a:moveTo>
                  <a:pt x="114792" y="65049"/>
                </a:moveTo>
                <a:lnTo>
                  <a:pt x="66962" y="65049"/>
                </a:lnTo>
                <a:lnTo>
                  <a:pt x="66962" y="114792"/>
                </a:lnTo>
                <a:lnTo>
                  <a:pt x="99486" y="114792"/>
                </a:lnTo>
                <a:cubicBezTo>
                  <a:pt x="107928" y="114792"/>
                  <a:pt x="114792" y="107928"/>
                  <a:pt x="114792" y="99486"/>
                </a:cubicBezTo>
                <a:lnTo>
                  <a:pt x="114792" y="65049"/>
                </a:lnTo>
                <a:close/>
                <a:moveTo>
                  <a:pt x="55483" y="65049"/>
                </a:moveTo>
                <a:lnTo>
                  <a:pt x="7653" y="65049"/>
                </a:lnTo>
                <a:lnTo>
                  <a:pt x="7653" y="99486"/>
                </a:lnTo>
                <a:cubicBezTo>
                  <a:pt x="7653" y="107928"/>
                  <a:pt x="14516" y="114792"/>
                  <a:pt x="22958" y="114792"/>
                </a:cubicBezTo>
                <a:lnTo>
                  <a:pt x="55483" y="114792"/>
                </a:lnTo>
                <a:lnTo>
                  <a:pt x="55483" y="6504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800346" y="2134037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Exclusive Premium Rewards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37" y="2308958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VIP-only products, early access, concierge service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4763" y="2588725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224" y="2686679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87816" y="98649"/>
                </a:moveTo>
                <a:lnTo>
                  <a:pt x="23795" y="34629"/>
                </a:lnTo>
                <a:cubicBezTo>
                  <a:pt x="18438" y="42138"/>
                  <a:pt x="15306" y="51322"/>
                  <a:pt x="15306" y="61222"/>
                </a:cubicBezTo>
                <a:cubicBezTo>
                  <a:pt x="15306" y="86572"/>
                  <a:pt x="35872" y="107139"/>
                  <a:pt x="61222" y="107139"/>
                </a:cubicBezTo>
                <a:cubicBezTo>
                  <a:pt x="71147" y="107139"/>
                  <a:pt x="80330" y="104006"/>
                  <a:pt x="87816" y="98649"/>
                </a:cubicBezTo>
                <a:close/>
                <a:moveTo>
                  <a:pt x="98649" y="87816"/>
                </a:moveTo>
                <a:cubicBezTo>
                  <a:pt x="104006" y="80307"/>
                  <a:pt x="107139" y="71123"/>
                  <a:pt x="107139" y="61222"/>
                </a:cubicBezTo>
                <a:cubicBezTo>
                  <a:pt x="107139" y="35872"/>
                  <a:pt x="86572" y="15306"/>
                  <a:pt x="61222" y="15306"/>
                </a:cubicBezTo>
                <a:cubicBezTo>
                  <a:pt x="51298" y="15306"/>
                  <a:pt x="42114" y="18438"/>
                  <a:pt x="34629" y="23795"/>
                </a:cubicBezTo>
                <a:lnTo>
                  <a:pt x="98649" y="87816"/>
                </a:lnTo>
                <a:close/>
                <a:moveTo>
                  <a:pt x="0" y="61222"/>
                </a:moveTo>
                <a:cubicBezTo>
                  <a:pt x="0" y="27433"/>
                  <a:pt x="27433" y="0"/>
                  <a:pt x="61222" y="0"/>
                </a:cubicBezTo>
                <a:cubicBezTo>
                  <a:pt x="95012" y="0"/>
                  <a:pt x="122445" y="27433"/>
                  <a:pt x="122445" y="61222"/>
                </a:cubicBezTo>
                <a:cubicBezTo>
                  <a:pt x="122445" y="95012"/>
                  <a:pt x="95012" y="122445"/>
                  <a:pt x="61222" y="122445"/>
                </a:cubicBezTo>
                <a:cubicBezTo>
                  <a:pt x="27433" y="122445"/>
                  <a:pt x="0" y="95012"/>
                  <a:pt x="0" y="6122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800346" y="2658694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Discounts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37" y="2833615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value, not price reductions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4763" y="3113378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04571" y="3211335"/>
            <a:ext cx="137750" cy="122445"/>
          </a:xfrm>
          <a:custGeom>
            <a:avLst/>
            <a:gdLst/>
            <a:ahLst/>
            <a:cxnLst/>
            <a:rect l="l" t="t" r="r" b="b"/>
            <a:pathLst>
              <a:path w="137750" h="122445">
                <a:moveTo>
                  <a:pt x="74017" y="-4520"/>
                </a:moveTo>
                <a:cubicBezTo>
                  <a:pt x="73036" y="-6433"/>
                  <a:pt x="71051" y="-7653"/>
                  <a:pt x="68899" y="-7653"/>
                </a:cubicBezTo>
                <a:cubicBezTo>
                  <a:pt x="66747" y="-7653"/>
                  <a:pt x="64762" y="-6433"/>
                  <a:pt x="63781" y="-4520"/>
                </a:cubicBezTo>
                <a:lnTo>
                  <a:pt x="46180" y="29965"/>
                </a:lnTo>
                <a:lnTo>
                  <a:pt x="7940" y="36040"/>
                </a:lnTo>
                <a:cubicBezTo>
                  <a:pt x="5811" y="36375"/>
                  <a:pt x="4042" y="37881"/>
                  <a:pt x="3372" y="39938"/>
                </a:cubicBezTo>
                <a:cubicBezTo>
                  <a:pt x="2702" y="41995"/>
                  <a:pt x="3252" y="44243"/>
                  <a:pt x="4759" y="45773"/>
                </a:cubicBezTo>
                <a:lnTo>
                  <a:pt x="32118" y="73156"/>
                </a:lnTo>
                <a:lnTo>
                  <a:pt x="26091" y="111396"/>
                </a:lnTo>
                <a:cubicBezTo>
                  <a:pt x="25756" y="113524"/>
                  <a:pt x="26641" y="115677"/>
                  <a:pt x="28387" y="116944"/>
                </a:cubicBezTo>
                <a:cubicBezTo>
                  <a:pt x="30133" y="118212"/>
                  <a:pt x="32429" y="118403"/>
                  <a:pt x="34366" y="117423"/>
                </a:cubicBezTo>
                <a:lnTo>
                  <a:pt x="68899" y="99869"/>
                </a:lnTo>
                <a:lnTo>
                  <a:pt x="103408" y="117423"/>
                </a:lnTo>
                <a:cubicBezTo>
                  <a:pt x="105322" y="118403"/>
                  <a:pt x="107641" y="118212"/>
                  <a:pt x="109387" y="116944"/>
                </a:cubicBezTo>
                <a:cubicBezTo>
                  <a:pt x="111133" y="115677"/>
                  <a:pt x="112018" y="113548"/>
                  <a:pt x="111683" y="111396"/>
                </a:cubicBezTo>
                <a:lnTo>
                  <a:pt x="105633" y="73156"/>
                </a:lnTo>
                <a:lnTo>
                  <a:pt x="132991" y="45773"/>
                </a:lnTo>
                <a:cubicBezTo>
                  <a:pt x="134522" y="44243"/>
                  <a:pt x="135048" y="41995"/>
                  <a:pt x="134378" y="39938"/>
                </a:cubicBezTo>
                <a:cubicBezTo>
                  <a:pt x="133709" y="37881"/>
                  <a:pt x="131963" y="36375"/>
                  <a:pt x="129811" y="36040"/>
                </a:cubicBezTo>
                <a:lnTo>
                  <a:pt x="91594" y="29965"/>
                </a:lnTo>
                <a:lnTo>
                  <a:pt x="74017" y="-452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0346" y="3183346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37" y="3358267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Curated recommendations based on purchase history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4763" y="3638030"/>
            <a:ext cx="5361331" cy="279874"/>
          </a:xfrm>
          <a:custGeom>
            <a:avLst/>
            <a:gdLst/>
            <a:ahLst/>
            <a:cxnLst/>
            <a:rect l="l" t="t" r="r" b="b"/>
            <a:pathLst>
              <a:path w="5361331" h="279874">
                <a:moveTo>
                  <a:pt x="69968" y="0"/>
                </a:moveTo>
                <a:lnTo>
                  <a:pt x="5291363" y="0"/>
                </a:lnTo>
                <a:cubicBezTo>
                  <a:pt x="5330005" y="0"/>
                  <a:pt x="5361331" y="31326"/>
                  <a:pt x="5361331" y="69968"/>
                </a:cubicBezTo>
                <a:lnTo>
                  <a:pt x="5361331" y="209905"/>
                </a:lnTo>
                <a:cubicBezTo>
                  <a:pt x="5361331" y="248548"/>
                  <a:pt x="5330005" y="279874"/>
                  <a:pt x="5291363" y="279874"/>
                </a:cubicBezTo>
                <a:lnTo>
                  <a:pt x="69968" y="279874"/>
                </a:lnTo>
                <a:cubicBezTo>
                  <a:pt x="31326" y="279874"/>
                  <a:pt x="0" y="248548"/>
                  <a:pt x="0" y="209905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568494" y="3707998"/>
            <a:ext cx="527387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Impact:</a:t>
            </a:r>
            <a:r>
              <a:rPr lang="en-US" sz="826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+40% retention, +25% spend increase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82477" y="1399369"/>
            <a:ext cx="5658697" cy="2658801"/>
          </a:xfrm>
          <a:custGeom>
            <a:avLst/>
            <a:gdLst/>
            <a:ahLst/>
            <a:cxnLst/>
            <a:rect l="l" t="t" r="r" b="b"/>
            <a:pathLst>
              <a:path w="5658697" h="2658801">
                <a:moveTo>
                  <a:pt x="34984" y="0"/>
                </a:moveTo>
                <a:lnTo>
                  <a:pt x="5553754" y="0"/>
                </a:lnTo>
                <a:cubicBezTo>
                  <a:pt x="5611713" y="0"/>
                  <a:pt x="5658697" y="46985"/>
                  <a:pt x="5658697" y="104943"/>
                </a:cubicBezTo>
                <a:lnTo>
                  <a:pt x="5658697" y="2553858"/>
                </a:lnTo>
                <a:cubicBezTo>
                  <a:pt x="5658697" y="2611816"/>
                  <a:pt x="5611713" y="2658801"/>
                  <a:pt x="5553754" y="2658801"/>
                </a:cubicBezTo>
                <a:lnTo>
                  <a:pt x="34984" y="2658801"/>
                </a:lnTo>
                <a:cubicBezTo>
                  <a:pt x="15663" y="2658801"/>
                  <a:pt x="0" y="2643138"/>
                  <a:pt x="0" y="262381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82477" y="1399369"/>
            <a:ext cx="34984" cy="2658801"/>
          </a:xfrm>
          <a:custGeom>
            <a:avLst/>
            <a:gdLst/>
            <a:ahLst/>
            <a:cxnLst/>
            <a:rect l="l" t="t" r="r" b="b"/>
            <a:pathLst>
              <a:path w="34984" h="2658801">
                <a:moveTo>
                  <a:pt x="34984" y="0"/>
                </a:moveTo>
                <a:lnTo>
                  <a:pt x="34984" y="0"/>
                </a:lnTo>
                <a:lnTo>
                  <a:pt x="34984" y="2658801"/>
                </a:lnTo>
                <a:lnTo>
                  <a:pt x="34984" y="2658801"/>
                </a:lnTo>
                <a:cubicBezTo>
                  <a:pt x="15663" y="2658801"/>
                  <a:pt x="0" y="2643138"/>
                  <a:pt x="0" y="262381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339906" y="1539306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6457977" y="1644258"/>
            <a:ext cx="183667" cy="209905"/>
          </a:xfrm>
          <a:custGeom>
            <a:avLst/>
            <a:gdLst/>
            <a:ahLst/>
            <a:cxnLst/>
            <a:rect l="l" t="t" r="r" b="b"/>
            <a:pathLst>
              <a:path w="183667" h="209905">
                <a:moveTo>
                  <a:pt x="91834" y="101673"/>
                </a:moveTo>
                <a:cubicBezTo>
                  <a:pt x="118986" y="101673"/>
                  <a:pt x="141030" y="79629"/>
                  <a:pt x="141030" y="52476"/>
                </a:cubicBezTo>
                <a:cubicBezTo>
                  <a:pt x="141030" y="25324"/>
                  <a:pt x="118986" y="3280"/>
                  <a:pt x="91834" y="3280"/>
                </a:cubicBezTo>
                <a:cubicBezTo>
                  <a:pt x="64681" y="3280"/>
                  <a:pt x="42637" y="25324"/>
                  <a:pt x="42637" y="52476"/>
                </a:cubicBezTo>
                <a:cubicBezTo>
                  <a:pt x="42637" y="79629"/>
                  <a:pt x="64681" y="101673"/>
                  <a:pt x="91834" y="101673"/>
                </a:cubicBezTo>
                <a:close/>
                <a:moveTo>
                  <a:pt x="79657" y="124631"/>
                </a:moveTo>
                <a:cubicBezTo>
                  <a:pt x="39275" y="124631"/>
                  <a:pt x="6560" y="157347"/>
                  <a:pt x="6560" y="197729"/>
                </a:cubicBezTo>
                <a:cubicBezTo>
                  <a:pt x="6560" y="204453"/>
                  <a:pt x="12012" y="209905"/>
                  <a:pt x="18736" y="209905"/>
                </a:cubicBezTo>
                <a:lnTo>
                  <a:pt x="164931" y="209905"/>
                </a:lnTo>
                <a:cubicBezTo>
                  <a:pt x="171655" y="209905"/>
                  <a:pt x="177108" y="204453"/>
                  <a:pt x="177108" y="197729"/>
                </a:cubicBezTo>
                <a:cubicBezTo>
                  <a:pt x="177108" y="157347"/>
                  <a:pt x="144392" y="124631"/>
                  <a:pt x="104010" y="124631"/>
                </a:cubicBezTo>
                <a:lnTo>
                  <a:pt x="79657" y="12463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864669" y="1626766"/>
            <a:ext cx="1827925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User Strategy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9906" y="2064069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5019" y="2162026"/>
            <a:ext cx="107139" cy="122445"/>
          </a:xfrm>
          <a:custGeom>
            <a:avLst/>
            <a:gdLst/>
            <a:ahLst/>
            <a:cxnLst/>
            <a:rect l="l" t="t" r="r" b="b"/>
            <a:pathLst>
              <a:path w="107139" h="122445">
                <a:moveTo>
                  <a:pt x="53641" y="30611"/>
                </a:moveTo>
                <a:lnTo>
                  <a:pt x="33409" y="-3085"/>
                </a:lnTo>
                <a:cubicBezTo>
                  <a:pt x="31855" y="-5668"/>
                  <a:pt x="28602" y="-6601"/>
                  <a:pt x="25924" y="-5261"/>
                </a:cubicBezTo>
                <a:lnTo>
                  <a:pt x="5213" y="5094"/>
                </a:lnTo>
                <a:cubicBezTo>
                  <a:pt x="2368" y="6505"/>
                  <a:pt x="1220" y="9949"/>
                  <a:pt x="2631" y="12795"/>
                </a:cubicBezTo>
                <a:lnTo>
                  <a:pt x="19275" y="46060"/>
                </a:lnTo>
                <a:cubicBezTo>
                  <a:pt x="12077" y="54167"/>
                  <a:pt x="7725" y="64834"/>
                  <a:pt x="7725" y="76528"/>
                </a:cubicBezTo>
                <a:cubicBezTo>
                  <a:pt x="7725" y="101878"/>
                  <a:pt x="28291" y="122445"/>
                  <a:pt x="53641" y="122445"/>
                </a:cubicBezTo>
                <a:cubicBezTo>
                  <a:pt x="78991" y="122445"/>
                  <a:pt x="99558" y="101878"/>
                  <a:pt x="99558" y="76528"/>
                </a:cubicBezTo>
                <a:cubicBezTo>
                  <a:pt x="99558" y="64834"/>
                  <a:pt x="95182" y="54167"/>
                  <a:pt x="88007" y="46060"/>
                </a:cubicBezTo>
                <a:lnTo>
                  <a:pt x="104652" y="12795"/>
                </a:lnTo>
                <a:cubicBezTo>
                  <a:pt x="106063" y="9949"/>
                  <a:pt x="104915" y="6505"/>
                  <a:pt x="102093" y="5094"/>
                </a:cubicBezTo>
                <a:lnTo>
                  <a:pt x="81359" y="-5285"/>
                </a:lnTo>
                <a:cubicBezTo>
                  <a:pt x="78680" y="-6624"/>
                  <a:pt x="75404" y="-5668"/>
                  <a:pt x="73873" y="-3109"/>
                </a:cubicBezTo>
                <a:lnTo>
                  <a:pt x="53641" y="30611"/>
                </a:lnTo>
                <a:close/>
                <a:moveTo>
                  <a:pt x="61007" y="64690"/>
                </a:moveTo>
                <a:cubicBezTo>
                  <a:pt x="61342" y="65360"/>
                  <a:pt x="61964" y="65814"/>
                  <a:pt x="62681" y="65910"/>
                </a:cubicBezTo>
                <a:lnTo>
                  <a:pt x="74663" y="67656"/>
                </a:lnTo>
                <a:cubicBezTo>
                  <a:pt x="76504" y="67919"/>
                  <a:pt x="77222" y="70167"/>
                  <a:pt x="75906" y="71482"/>
                </a:cubicBezTo>
                <a:lnTo>
                  <a:pt x="67225" y="79948"/>
                </a:lnTo>
                <a:cubicBezTo>
                  <a:pt x="66699" y="80474"/>
                  <a:pt x="66460" y="81191"/>
                  <a:pt x="66579" y="81933"/>
                </a:cubicBezTo>
                <a:lnTo>
                  <a:pt x="68636" y="93866"/>
                </a:lnTo>
                <a:cubicBezTo>
                  <a:pt x="68947" y="95684"/>
                  <a:pt x="67034" y="97095"/>
                  <a:pt x="65384" y="96234"/>
                </a:cubicBezTo>
                <a:lnTo>
                  <a:pt x="54670" y="90590"/>
                </a:lnTo>
                <a:cubicBezTo>
                  <a:pt x="54024" y="90255"/>
                  <a:pt x="53235" y="90255"/>
                  <a:pt x="52589" y="90590"/>
                </a:cubicBezTo>
                <a:lnTo>
                  <a:pt x="41875" y="96234"/>
                </a:lnTo>
                <a:cubicBezTo>
                  <a:pt x="40225" y="97095"/>
                  <a:pt x="38312" y="95708"/>
                  <a:pt x="38623" y="93866"/>
                </a:cubicBezTo>
                <a:lnTo>
                  <a:pt x="40679" y="81933"/>
                </a:lnTo>
                <a:cubicBezTo>
                  <a:pt x="40799" y="81215"/>
                  <a:pt x="40560" y="80474"/>
                  <a:pt x="40034" y="79948"/>
                </a:cubicBezTo>
                <a:lnTo>
                  <a:pt x="31353" y="71482"/>
                </a:lnTo>
                <a:cubicBezTo>
                  <a:pt x="30013" y="70191"/>
                  <a:pt x="30755" y="67942"/>
                  <a:pt x="32596" y="67656"/>
                </a:cubicBezTo>
                <a:lnTo>
                  <a:pt x="44578" y="65910"/>
                </a:lnTo>
                <a:cubicBezTo>
                  <a:pt x="45295" y="65814"/>
                  <a:pt x="45941" y="65336"/>
                  <a:pt x="46252" y="64690"/>
                </a:cubicBezTo>
                <a:lnTo>
                  <a:pt x="51609" y="53833"/>
                </a:lnTo>
                <a:cubicBezTo>
                  <a:pt x="52422" y="52159"/>
                  <a:pt x="54789" y="52159"/>
                  <a:pt x="55626" y="53833"/>
                </a:cubicBezTo>
                <a:lnTo>
                  <a:pt x="60983" y="6469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615488" y="2134037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Loyalty Program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19779" y="2308958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system, tiered benefits, exclusive member events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9906" y="2588725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427366" y="2686679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19132" y="38264"/>
                </a:moveTo>
                <a:cubicBezTo>
                  <a:pt x="23365" y="38264"/>
                  <a:pt x="26785" y="41684"/>
                  <a:pt x="26785" y="45917"/>
                </a:cubicBezTo>
                <a:lnTo>
                  <a:pt x="26785" y="107139"/>
                </a:lnTo>
                <a:cubicBezTo>
                  <a:pt x="26785" y="111372"/>
                  <a:pt x="23365" y="114792"/>
                  <a:pt x="19132" y="114792"/>
                </a:cubicBezTo>
                <a:lnTo>
                  <a:pt x="7653" y="114792"/>
                </a:lnTo>
                <a:cubicBezTo>
                  <a:pt x="3420" y="114792"/>
                  <a:pt x="0" y="111372"/>
                  <a:pt x="0" y="107139"/>
                </a:cubicBezTo>
                <a:lnTo>
                  <a:pt x="0" y="45917"/>
                </a:lnTo>
                <a:cubicBezTo>
                  <a:pt x="0" y="41684"/>
                  <a:pt x="3420" y="38264"/>
                  <a:pt x="7653" y="38264"/>
                </a:cubicBezTo>
                <a:lnTo>
                  <a:pt x="19132" y="38264"/>
                </a:lnTo>
                <a:close/>
                <a:moveTo>
                  <a:pt x="64714" y="3826"/>
                </a:moveTo>
                <a:cubicBezTo>
                  <a:pt x="71243" y="3826"/>
                  <a:pt x="76528" y="9112"/>
                  <a:pt x="76528" y="15640"/>
                </a:cubicBezTo>
                <a:lnTo>
                  <a:pt x="76528" y="16645"/>
                </a:lnTo>
                <a:cubicBezTo>
                  <a:pt x="76528" y="18271"/>
                  <a:pt x="76217" y="19897"/>
                  <a:pt x="75619" y="21404"/>
                </a:cubicBezTo>
                <a:lnTo>
                  <a:pt x="68875" y="38264"/>
                </a:lnTo>
                <a:lnTo>
                  <a:pt x="107139" y="38264"/>
                </a:lnTo>
                <a:cubicBezTo>
                  <a:pt x="113477" y="38264"/>
                  <a:pt x="118618" y="43406"/>
                  <a:pt x="118618" y="49743"/>
                </a:cubicBezTo>
                <a:cubicBezTo>
                  <a:pt x="118618" y="54454"/>
                  <a:pt x="115772" y="58496"/>
                  <a:pt x="111707" y="60266"/>
                </a:cubicBezTo>
                <a:cubicBezTo>
                  <a:pt x="115772" y="62035"/>
                  <a:pt x="118618" y="66077"/>
                  <a:pt x="118618" y="70788"/>
                </a:cubicBezTo>
                <a:cubicBezTo>
                  <a:pt x="118618" y="76384"/>
                  <a:pt x="114601" y="81048"/>
                  <a:pt x="109292" y="82052"/>
                </a:cubicBezTo>
                <a:cubicBezTo>
                  <a:pt x="110344" y="83798"/>
                  <a:pt x="110966" y="85831"/>
                  <a:pt x="110966" y="88007"/>
                </a:cubicBezTo>
                <a:cubicBezTo>
                  <a:pt x="110966" y="93316"/>
                  <a:pt x="107378" y="97764"/>
                  <a:pt x="102500" y="99080"/>
                </a:cubicBezTo>
                <a:cubicBezTo>
                  <a:pt x="103026" y="100395"/>
                  <a:pt x="103313" y="101830"/>
                  <a:pt x="103313" y="103313"/>
                </a:cubicBezTo>
                <a:cubicBezTo>
                  <a:pt x="103313" y="109650"/>
                  <a:pt x="98171" y="114792"/>
                  <a:pt x="91834" y="114792"/>
                </a:cubicBezTo>
                <a:lnTo>
                  <a:pt x="70812" y="114792"/>
                </a:lnTo>
                <a:cubicBezTo>
                  <a:pt x="62131" y="114792"/>
                  <a:pt x="53689" y="111827"/>
                  <a:pt x="46921" y="106398"/>
                </a:cubicBezTo>
                <a:lnTo>
                  <a:pt x="44004" y="104078"/>
                </a:lnTo>
                <a:cubicBezTo>
                  <a:pt x="40369" y="101184"/>
                  <a:pt x="38264" y="96784"/>
                  <a:pt x="38264" y="92121"/>
                </a:cubicBezTo>
                <a:lnTo>
                  <a:pt x="38264" y="47495"/>
                </a:lnTo>
                <a:cubicBezTo>
                  <a:pt x="38264" y="43932"/>
                  <a:pt x="39101" y="40416"/>
                  <a:pt x="40679" y="37236"/>
                </a:cubicBezTo>
                <a:lnTo>
                  <a:pt x="54120" y="10355"/>
                </a:lnTo>
                <a:cubicBezTo>
                  <a:pt x="56128" y="6361"/>
                  <a:pt x="60218" y="3826"/>
                  <a:pt x="64714" y="382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615488" y="2658694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Recommendations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19779" y="2833615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AI-driven product suggestions based on preferences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9906" y="3113378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35019" y="3211335"/>
            <a:ext cx="107139" cy="122445"/>
          </a:xfrm>
          <a:custGeom>
            <a:avLst/>
            <a:gdLst/>
            <a:ahLst/>
            <a:cxnLst/>
            <a:rect l="l" t="t" r="r" b="b"/>
            <a:pathLst>
              <a:path w="107139" h="122445">
                <a:moveTo>
                  <a:pt x="45917" y="30611"/>
                </a:moveTo>
                <a:cubicBezTo>
                  <a:pt x="45917" y="17940"/>
                  <a:pt x="35629" y="7653"/>
                  <a:pt x="22958" y="7653"/>
                </a:cubicBezTo>
                <a:cubicBezTo>
                  <a:pt x="10287" y="7653"/>
                  <a:pt x="0" y="17940"/>
                  <a:pt x="0" y="30611"/>
                </a:cubicBezTo>
                <a:cubicBezTo>
                  <a:pt x="0" y="43282"/>
                  <a:pt x="10287" y="53570"/>
                  <a:pt x="22958" y="53570"/>
                </a:cubicBezTo>
                <a:cubicBezTo>
                  <a:pt x="35629" y="53570"/>
                  <a:pt x="45917" y="43282"/>
                  <a:pt x="45917" y="30611"/>
                </a:cubicBezTo>
                <a:close/>
                <a:moveTo>
                  <a:pt x="107139" y="91834"/>
                </a:moveTo>
                <a:cubicBezTo>
                  <a:pt x="107139" y="79162"/>
                  <a:pt x="96852" y="68875"/>
                  <a:pt x="84181" y="68875"/>
                </a:cubicBezTo>
                <a:cubicBezTo>
                  <a:pt x="71510" y="68875"/>
                  <a:pt x="61222" y="79162"/>
                  <a:pt x="61222" y="91834"/>
                </a:cubicBezTo>
                <a:cubicBezTo>
                  <a:pt x="61222" y="104505"/>
                  <a:pt x="71510" y="114792"/>
                  <a:pt x="84181" y="114792"/>
                </a:cubicBezTo>
                <a:cubicBezTo>
                  <a:pt x="96852" y="114792"/>
                  <a:pt x="107139" y="104505"/>
                  <a:pt x="107139" y="91834"/>
                </a:cubicBezTo>
                <a:close/>
                <a:moveTo>
                  <a:pt x="104891" y="20710"/>
                </a:moveTo>
                <a:cubicBezTo>
                  <a:pt x="107881" y="17721"/>
                  <a:pt x="107881" y="12866"/>
                  <a:pt x="104891" y="9877"/>
                </a:cubicBezTo>
                <a:cubicBezTo>
                  <a:pt x="101902" y="6888"/>
                  <a:pt x="97047" y="6888"/>
                  <a:pt x="94058" y="9877"/>
                </a:cubicBezTo>
                <a:lnTo>
                  <a:pt x="2224" y="101710"/>
                </a:lnTo>
                <a:cubicBezTo>
                  <a:pt x="-765" y="104700"/>
                  <a:pt x="-765" y="109555"/>
                  <a:pt x="2224" y="112544"/>
                </a:cubicBezTo>
                <a:cubicBezTo>
                  <a:pt x="5213" y="115533"/>
                  <a:pt x="10068" y="115533"/>
                  <a:pt x="13058" y="112544"/>
                </a:cubicBezTo>
                <a:lnTo>
                  <a:pt x="104891" y="2071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615488" y="3183346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Occasional Promotions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19779" y="3358267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Seasonal sales, bundle offers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9906" y="3638030"/>
            <a:ext cx="5361331" cy="279874"/>
          </a:xfrm>
          <a:custGeom>
            <a:avLst/>
            <a:gdLst/>
            <a:ahLst/>
            <a:cxnLst/>
            <a:rect l="l" t="t" r="r" b="b"/>
            <a:pathLst>
              <a:path w="5361331" h="279874">
                <a:moveTo>
                  <a:pt x="69968" y="0"/>
                </a:moveTo>
                <a:lnTo>
                  <a:pt x="5291363" y="0"/>
                </a:lnTo>
                <a:cubicBezTo>
                  <a:pt x="5330005" y="0"/>
                  <a:pt x="5361331" y="31326"/>
                  <a:pt x="5361331" y="69968"/>
                </a:cubicBezTo>
                <a:lnTo>
                  <a:pt x="5361331" y="209905"/>
                </a:lnTo>
                <a:cubicBezTo>
                  <a:pt x="5361331" y="248548"/>
                  <a:pt x="5330005" y="279874"/>
                  <a:pt x="5291363" y="279874"/>
                </a:cubicBezTo>
                <a:lnTo>
                  <a:pt x="69968" y="279874"/>
                </a:lnTo>
                <a:cubicBezTo>
                  <a:pt x="31326" y="279874"/>
                  <a:pt x="0" y="248548"/>
                  <a:pt x="0" y="209905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42" name="Text 40"/>
          <p:cNvSpPr/>
          <p:nvPr/>
        </p:nvSpPr>
        <p:spPr>
          <a:xfrm>
            <a:off x="6383636" y="3707998"/>
            <a:ext cx="527387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Impact:</a:t>
            </a:r>
            <a:r>
              <a:rPr lang="en-US" sz="826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+20% engagement, +15% conversion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67334" y="4197671"/>
            <a:ext cx="5658697" cy="2658801"/>
          </a:xfrm>
          <a:custGeom>
            <a:avLst/>
            <a:gdLst/>
            <a:ahLst/>
            <a:cxnLst/>
            <a:rect l="l" t="t" r="r" b="b"/>
            <a:pathLst>
              <a:path w="5658697" h="2658801">
                <a:moveTo>
                  <a:pt x="34984" y="0"/>
                </a:moveTo>
                <a:lnTo>
                  <a:pt x="5553754" y="0"/>
                </a:lnTo>
                <a:cubicBezTo>
                  <a:pt x="5611713" y="0"/>
                  <a:pt x="5658697" y="46985"/>
                  <a:pt x="5658697" y="104943"/>
                </a:cubicBezTo>
                <a:lnTo>
                  <a:pt x="5658697" y="2553858"/>
                </a:lnTo>
                <a:cubicBezTo>
                  <a:pt x="5658697" y="2611816"/>
                  <a:pt x="5611713" y="2658801"/>
                  <a:pt x="5553754" y="2658801"/>
                </a:cubicBezTo>
                <a:lnTo>
                  <a:pt x="34984" y="2658801"/>
                </a:lnTo>
                <a:cubicBezTo>
                  <a:pt x="15663" y="2658801"/>
                  <a:pt x="0" y="2643138"/>
                  <a:pt x="0" y="262381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7334" y="4197671"/>
            <a:ext cx="34984" cy="2658801"/>
          </a:xfrm>
          <a:custGeom>
            <a:avLst/>
            <a:gdLst/>
            <a:ahLst/>
            <a:cxnLst/>
            <a:rect l="l" t="t" r="r" b="b"/>
            <a:pathLst>
              <a:path w="34984" h="2658801">
                <a:moveTo>
                  <a:pt x="34984" y="0"/>
                </a:moveTo>
                <a:lnTo>
                  <a:pt x="34984" y="0"/>
                </a:lnTo>
                <a:lnTo>
                  <a:pt x="34984" y="2658801"/>
                </a:lnTo>
                <a:lnTo>
                  <a:pt x="34984" y="2658801"/>
                </a:lnTo>
                <a:cubicBezTo>
                  <a:pt x="15663" y="2658801"/>
                  <a:pt x="0" y="2643138"/>
                  <a:pt x="0" y="262381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5" name="Shape 43"/>
          <p:cNvSpPr/>
          <p:nvPr/>
        </p:nvSpPr>
        <p:spPr>
          <a:xfrm>
            <a:off x="524763" y="4337607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EE2E2"/>
          </a:solidFill>
          <a:ln/>
        </p:spPr>
      </p:sp>
      <p:sp>
        <p:nvSpPr>
          <p:cNvPr id="46" name="Shape 44"/>
          <p:cNvSpPr/>
          <p:nvPr/>
        </p:nvSpPr>
        <p:spPr>
          <a:xfrm>
            <a:off x="629716" y="4442560"/>
            <a:ext cx="209905" cy="209905"/>
          </a:xfrm>
          <a:custGeom>
            <a:avLst/>
            <a:gdLst/>
            <a:ahLst/>
            <a:cxnLst/>
            <a:rect l="l" t="t" r="r" b="b"/>
            <a:pathLst>
              <a:path w="209905" h="209905">
                <a:moveTo>
                  <a:pt x="113890" y="3526"/>
                </a:moveTo>
                <a:cubicBezTo>
                  <a:pt x="108847" y="-1148"/>
                  <a:pt x="101058" y="-1148"/>
                  <a:pt x="96056" y="3526"/>
                </a:cubicBezTo>
                <a:lnTo>
                  <a:pt x="4223" y="88800"/>
                </a:lnTo>
                <a:cubicBezTo>
                  <a:pt x="287" y="92490"/>
                  <a:pt x="-1025" y="98188"/>
                  <a:pt x="943" y="103190"/>
                </a:cubicBezTo>
                <a:cubicBezTo>
                  <a:pt x="2911" y="108191"/>
                  <a:pt x="7707" y="111512"/>
                  <a:pt x="13119" y="111512"/>
                </a:cubicBezTo>
                <a:lnTo>
                  <a:pt x="19679" y="111512"/>
                </a:lnTo>
                <a:lnTo>
                  <a:pt x="19679" y="183667"/>
                </a:lnTo>
                <a:cubicBezTo>
                  <a:pt x="19679" y="198139"/>
                  <a:pt x="31445" y="209905"/>
                  <a:pt x="45917" y="209905"/>
                </a:cubicBezTo>
                <a:lnTo>
                  <a:pt x="163989" y="209905"/>
                </a:lnTo>
                <a:cubicBezTo>
                  <a:pt x="178461" y="209905"/>
                  <a:pt x="190227" y="198139"/>
                  <a:pt x="190227" y="183667"/>
                </a:cubicBezTo>
                <a:lnTo>
                  <a:pt x="190227" y="111512"/>
                </a:lnTo>
                <a:lnTo>
                  <a:pt x="196786" y="111512"/>
                </a:lnTo>
                <a:cubicBezTo>
                  <a:pt x="202198" y="111512"/>
                  <a:pt x="207036" y="108191"/>
                  <a:pt x="209003" y="103190"/>
                </a:cubicBezTo>
                <a:cubicBezTo>
                  <a:pt x="210971" y="98188"/>
                  <a:pt x="209659" y="92449"/>
                  <a:pt x="205724" y="88800"/>
                </a:cubicBezTo>
                <a:lnTo>
                  <a:pt x="113890" y="3526"/>
                </a:lnTo>
                <a:close/>
                <a:moveTo>
                  <a:pt x="98393" y="131191"/>
                </a:moveTo>
                <a:lnTo>
                  <a:pt x="111512" y="131191"/>
                </a:lnTo>
                <a:cubicBezTo>
                  <a:pt x="122376" y="131191"/>
                  <a:pt x="131191" y="140005"/>
                  <a:pt x="131191" y="150869"/>
                </a:cubicBezTo>
                <a:lnTo>
                  <a:pt x="131191" y="190227"/>
                </a:lnTo>
                <a:lnTo>
                  <a:pt x="78714" y="190227"/>
                </a:lnTo>
                <a:lnTo>
                  <a:pt x="78714" y="150869"/>
                </a:lnTo>
                <a:cubicBezTo>
                  <a:pt x="78714" y="140005"/>
                  <a:pt x="87529" y="131191"/>
                  <a:pt x="98393" y="131191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1049527" y="4425068"/>
            <a:ext cx="188914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Family Strategy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4763" y="4862371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9" name="Shape 47"/>
          <p:cNvSpPr/>
          <p:nvPr/>
        </p:nvSpPr>
        <p:spPr>
          <a:xfrm>
            <a:off x="604571" y="4960324"/>
            <a:ext cx="137750" cy="122445"/>
          </a:xfrm>
          <a:custGeom>
            <a:avLst/>
            <a:gdLst/>
            <a:ahLst/>
            <a:cxnLst/>
            <a:rect l="l" t="t" r="r" b="b"/>
            <a:pathLst>
              <a:path w="137750" h="122445">
                <a:moveTo>
                  <a:pt x="95947" y="9351"/>
                </a:moveTo>
                <a:lnTo>
                  <a:pt x="131389" y="45295"/>
                </a:lnTo>
                <a:cubicBezTo>
                  <a:pt x="138013" y="52015"/>
                  <a:pt x="138013" y="62777"/>
                  <a:pt x="131389" y="69497"/>
                </a:cubicBezTo>
                <a:lnTo>
                  <a:pt x="93986" y="107354"/>
                </a:lnTo>
                <a:cubicBezTo>
                  <a:pt x="91762" y="109602"/>
                  <a:pt x="88127" y="109626"/>
                  <a:pt x="85879" y="107402"/>
                </a:cubicBezTo>
                <a:cubicBezTo>
                  <a:pt x="83631" y="105178"/>
                  <a:pt x="83607" y="101543"/>
                  <a:pt x="85831" y="99295"/>
                </a:cubicBezTo>
                <a:lnTo>
                  <a:pt x="123234" y="61414"/>
                </a:lnTo>
                <a:cubicBezTo>
                  <a:pt x="125434" y="59190"/>
                  <a:pt x="125434" y="55578"/>
                  <a:pt x="123234" y="53354"/>
                </a:cubicBezTo>
                <a:lnTo>
                  <a:pt x="87768" y="17434"/>
                </a:lnTo>
                <a:cubicBezTo>
                  <a:pt x="85544" y="15186"/>
                  <a:pt x="85568" y="11551"/>
                  <a:pt x="87816" y="9327"/>
                </a:cubicBezTo>
                <a:cubicBezTo>
                  <a:pt x="90064" y="7103"/>
                  <a:pt x="93699" y="7127"/>
                  <a:pt x="95923" y="9375"/>
                </a:cubicBezTo>
                <a:close/>
                <a:moveTo>
                  <a:pt x="7677" y="54885"/>
                </a:moveTo>
                <a:lnTo>
                  <a:pt x="7677" y="22958"/>
                </a:lnTo>
                <a:cubicBezTo>
                  <a:pt x="7677" y="14516"/>
                  <a:pt x="14540" y="7653"/>
                  <a:pt x="22982" y="7653"/>
                </a:cubicBezTo>
                <a:lnTo>
                  <a:pt x="54909" y="7653"/>
                </a:lnTo>
                <a:cubicBezTo>
                  <a:pt x="58974" y="7653"/>
                  <a:pt x="62873" y="9255"/>
                  <a:pt x="65742" y="12125"/>
                </a:cubicBezTo>
                <a:lnTo>
                  <a:pt x="100180" y="46562"/>
                </a:lnTo>
                <a:cubicBezTo>
                  <a:pt x="106159" y="52541"/>
                  <a:pt x="106159" y="62227"/>
                  <a:pt x="100180" y="68206"/>
                </a:cubicBezTo>
                <a:lnTo>
                  <a:pt x="68253" y="100132"/>
                </a:lnTo>
                <a:cubicBezTo>
                  <a:pt x="62275" y="106111"/>
                  <a:pt x="52589" y="106111"/>
                  <a:pt x="46610" y="100132"/>
                </a:cubicBezTo>
                <a:lnTo>
                  <a:pt x="12173" y="65694"/>
                </a:lnTo>
                <a:cubicBezTo>
                  <a:pt x="9303" y="62825"/>
                  <a:pt x="7701" y="58927"/>
                  <a:pt x="7701" y="54861"/>
                </a:cubicBezTo>
                <a:close/>
                <a:moveTo>
                  <a:pt x="42114" y="34438"/>
                </a:moveTo>
                <a:cubicBezTo>
                  <a:pt x="42114" y="30214"/>
                  <a:pt x="38685" y="26785"/>
                  <a:pt x="34462" y="26785"/>
                </a:cubicBezTo>
                <a:cubicBezTo>
                  <a:pt x="30238" y="26785"/>
                  <a:pt x="26809" y="30214"/>
                  <a:pt x="26809" y="34438"/>
                </a:cubicBezTo>
                <a:cubicBezTo>
                  <a:pt x="26809" y="38661"/>
                  <a:pt x="30238" y="42090"/>
                  <a:pt x="34462" y="42090"/>
                </a:cubicBezTo>
                <a:cubicBezTo>
                  <a:pt x="38685" y="42090"/>
                  <a:pt x="42114" y="38661"/>
                  <a:pt x="42114" y="34438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800346" y="4932339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Deals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4637" y="5107260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packs, bulk discounts, clearance sales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4763" y="5387023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3" name="Shape 51"/>
          <p:cNvSpPr/>
          <p:nvPr/>
        </p:nvSpPr>
        <p:spPr>
          <a:xfrm>
            <a:off x="596918" y="5484980"/>
            <a:ext cx="153056" cy="122445"/>
          </a:xfrm>
          <a:custGeom>
            <a:avLst/>
            <a:gdLst/>
            <a:ahLst/>
            <a:cxnLst/>
            <a:rect l="l" t="t" r="r" b="b"/>
            <a:pathLst>
              <a:path w="153056" h="122445">
                <a:moveTo>
                  <a:pt x="76528" y="3826"/>
                </a:moveTo>
                <a:cubicBezTo>
                  <a:pt x="90255" y="3826"/>
                  <a:pt x="101400" y="14971"/>
                  <a:pt x="101400" y="28698"/>
                </a:cubicBezTo>
                <a:cubicBezTo>
                  <a:pt x="101400" y="42425"/>
                  <a:pt x="90255" y="53570"/>
                  <a:pt x="76528" y="53570"/>
                </a:cubicBezTo>
                <a:cubicBezTo>
                  <a:pt x="62801" y="53570"/>
                  <a:pt x="51656" y="42425"/>
                  <a:pt x="51656" y="28698"/>
                </a:cubicBezTo>
                <a:cubicBezTo>
                  <a:pt x="51656" y="14971"/>
                  <a:pt x="62801" y="3826"/>
                  <a:pt x="76528" y="3826"/>
                </a:cubicBezTo>
                <a:close/>
                <a:moveTo>
                  <a:pt x="22958" y="21045"/>
                </a:moveTo>
                <a:cubicBezTo>
                  <a:pt x="32462" y="21045"/>
                  <a:pt x="40177" y="28761"/>
                  <a:pt x="40177" y="38264"/>
                </a:cubicBezTo>
                <a:cubicBezTo>
                  <a:pt x="40177" y="47767"/>
                  <a:pt x="32462" y="55483"/>
                  <a:pt x="22958" y="55483"/>
                </a:cubicBezTo>
                <a:cubicBezTo>
                  <a:pt x="13455" y="55483"/>
                  <a:pt x="5740" y="47767"/>
                  <a:pt x="5740" y="38264"/>
                </a:cubicBezTo>
                <a:cubicBezTo>
                  <a:pt x="5740" y="28761"/>
                  <a:pt x="13455" y="21045"/>
                  <a:pt x="22958" y="21045"/>
                </a:cubicBezTo>
                <a:close/>
                <a:moveTo>
                  <a:pt x="0" y="99486"/>
                </a:moveTo>
                <a:cubicBezTo>
                  <a:pt x="0" y="82578"/>
                  <a:pt x="13703" y="68875"/>
                  <a:pt x="30611" y="68875"/>
                </a:cubicBezTo>
                <a:cubicBezTo>
                  <a:pt x="33672" y="68875"/>
                  <a:pt x="36638" y="69330"/>
                  <a:pt x="39436" y="70167"/>
                </a:cubicBezTo>
                <a:cubicBezTo>
                  <a:pt x="31568" y="78967"/>
                  <a:pt x="26785" y="90590"/>
                  <a:pt x="26785" y="103313"/>
                </a:cubicBezTo>
                <a:lnTo>
                  <a:pt x="26785" y="107139"/>
                </a:lnTo>
                <a:cubicBezTo>
                  <a:pt x="26785" y="109865"/>
                  <a:pt x="27359" y="112448"/>
                  <a:pt x="28387" y="114792"/>
                </a:cubicBezTo>
                <a:lnTo>
                  <a:pt x="7653" y="114792"/>
                </a:lnTo>
                <a:cubicBezTo>
                  <a:pt x="3420" y="114792"/>
                  <a:pt x="0" y="111372"/>
                  <a:pt x="0" y="107139"/>
                </a:cubicBezTo>
                <a:lnTo>
                  <a:pt x="0" y="99486"/>
                </a:lnTo>
                <a:close/>
                <a:moveTo>
                  <a:pt x="124669" y="114792"/>
                </a:moveTo>
                <a:cubicBezTo>
                  <a:pt x="125697" y="112448"/>
                  <a:pt x="126271" y="109865"/>
                  <a:pt x="126271" y="107139"/>
                </a:cubicBezTo>
                <a:lnTo>
                  <a:pt x="126271" y="103313"/>
                </a:lnTo>
                <a:cubicBezTo>
                  <a:pt x="126271" y="90590"/>
                  <a:pt x="121488" y="78967"/>
                  <a:pt x="113620" y="70167"/>
                </a:cubicBezTo>
                <a:cubicBezTo>
                  <a:pt x="116418" y="69330"/>
                  <a:pt x="119384" y="68875"/>
                  <a:pt x="122445" y="68875"/>
                </a:cubicBezTo>
                <a:cubicBezTo>
                  <a:pt x="139353" y="68875"/>
                  <a:pt x="153056" y="82578"/>
                  <a:pt x="153056" y="99486"/>
                </a:cubicBezTo>
                <a:lnTo>
                  <a:pt x="153056" y="107139"/>
                </a:lnTo>
                <a:cubicBezTo>
                  <a:pt x="153056" y="111372"/>
                  <a:pt x="149636" y="114792"/>
                  <a:pt x="145403" y="114792"/>
                </a:cubicBezTo>
                <a:lnTo>
                  <a:pt x="124669" y="114792"/>
                </a:lnTo>
                <a:close/>
                <a:moveTo>
                  <a:pt x="112879" y="38264"/>
                </a:moveTo>
                <a:cubicBezTo>
                  <a:pt x="112879" y="28761"/>
                  <a:pt x="120594" y="21045"/>
                  <a:pt x="130098" y="21045"/>
                </a:cubicBezTo>
                <a:cubicBezTo>
                  <a:pt x="139601" y="21045"/>
                  <a:pt x="147316" y="28761"/>
                  <a:pt x="147316" y="38264"/>
                </a:cubicBezTo>
                <a:cubicBezTo>
                  <a:pt x="147316" y="47767"/>
                  <a:pt x="139601" y="55483"/>
                  <a:pt x="130098" y="55483"/>
                </a:cubicBezTo>
                <a:cubicBezTo>
                  <a:pt x="120594" y="55483"/>
                  <a:pt x="112879" y="47767"/>
                  <a:pt x="112879" y="38264"/>
                </a:cubicBezTo>
                <a:close/>
                <a:moveTo>
                  <a:pt x="38264" y="103313"/>
                </a:moveTo>
                <a:cubicBezTo>
                  <a:pt x="38264" y="82172"/>
                  <a:pt x="55387" y="65049"/>
                  <a:pt x="76528" y="65049"/>
                </a:cubicBezTo>
                <a:cubicBezTo>
                  <a:pt x="97669" y="65049"/>
                  <a:pt x="114792" y="82172"/>
                  <a:pt x="114792" y="103313"/>
                </a:cubicBezTo>
                <a:lnTo>
                  <a:pt x="114792" y="107139"/>
                </a:lnTo>
                <a:cubicBezTo>
                  <a:pt x="114792" y="111372"/>
                  <a:pt x="111372" y="114792"/>
                  <a:pt x="107139" y="114792"/>
                </a:cubicBezTo>
                <a:lnTo>
                  <a:pt x="45917" y="114792"/>
                </a:lnTo>
                <a:cubicBezTo>
                  <a:pt x="41684" y="114792"/>
                  <a:pt x="38264" y="111372"/>
                  <a:pt x="38264" y="107139"/>
                </a:cubicBezTo>
                <a:lnTo>
                  <a:pt x="38264" y="10331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800346" y="5456991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Family Combos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04637" y="5631912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Bundle products for families, kids' specials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24763" y="5911679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7" name="Shape 55"/>
          <p:cNvSpPr/>
          <p:nvPr/>
        </p:nvSpPr>
        <p:spPr>
          <a:xfrm>
            <a:off x="612224" y="6009633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110296" y="4520"/>
                </a:moveTo>
                <a:cubicBezTo>
                  <a:pt x="113046" y="5740"/>
                  <a:pt x="114792" y="8466"/>
                  <a:pt x="114792" y="11479"/>
                </a:cubicBezTo>
                <a:lnTo>
                  <a:pt x="114792" y="110966"/>
                </a:lnTo>
                <a:cubicBezTo>
                  <a:pt x="114792" y="113979"/>
                  <a:pt x="113046" y="116705"/>
                  <a:pt x="110296" y="117925"/>
                </a:cubicBezTo>
                <a:cubicBezTo>
                  <a:pt x="107546" y="119144"/>
                  <a:pt x="104365" y="118690"/>
                  <a:pt x="102093" y="116705"/>
                </a:cubicBezTo>
                <a:lnTo>
                  <a:pt x="90949" y="106972"/>
                </a:lnTo>
                <a:cubicBezTo>
                  <a:pt x="80522" y="97860"/>
                  <a:pt x="67345" y="92551"/>
                  <a:pt x="53546" y="91905"/>
                </a:cubicBezTo>
                <a:lnTo>
                  <a:pt x="53546" y="114792"/>
                </a:lnTo>
                <a:cubicBezTo>
                  <a:pt x="53546" y="119025"/>
                  <a:pt x="50126" y="122445"/>
                  <a:pt x="45893" y="122445"/>
                </a:cubicBezTo>
                <a:lnTo>
                  <a:pt x="38240" y="122445"/>
                </a:lnTo>
                <a:cubicBezTo>
                  <a:pt x="34007" y="122445"/>
                  <a:pt x="30587" y="119025"/>
                  <a:pt x="30587" y="114792"/>
                </a:cubicBezTo>
                <a:lnTo>
                  <a:pt x="30587" y="91834"/>
                </a:lnTo>
                <a:cubicBezTo>
                  <a:pt x="13703" y="91834"/>
                  <a:pt x="0" y="78130"/>
                  <a:pt x="0" y="61222"/>
                </a:cubicBezTo>
                <a:cubicBezTo>
                  <a:pt x="0" y="44314"/>
                  <a:pt x="13703" y="30611"/>
                  <a:pt x="30611" y="30611"/>
                </a:cubicBezTo>
                <a:lnTo>
                  <a:pt x="50819" y="30611"/>
                </a:lnTo>
                <a:cubicBezTo>
                  <a:pt x="65599" y="30563"/>
                  <a:pt x="79852" y="25182"/>
                  <a:pt x="90973" y="15473"/>
                </a:cubicBezTo>
                <a:lnTo>
                  <a:pt x="102117" y="5740"/>
                </a:lnTo>
                <a:cubicBezTo>
                  <a:pt x="104365" y="3755"/>
                  <a:pt x="107594" y="3300"/>
                  <a:pt x="110320" y="4520"/>
                </a:cubicBezTo>
                <a:close/>
                <a:moveTo>
                  <a:pt x="53570" y="76528"/>
                </a:moveTo>
                <a:lnTo>
                  <a:pt x="53570" y="76576"/>
                </a:lnTo>
                <a:cubicBezTo>
                  <a:pt x="70382" y="77222"/>
                  <a:pt x="86524" y="83392"/>
                  <a:pt x="99486" y="94129"/>
                </a:cubicBezTo>
                <a:lnTo>
                  <a:pt x="99486" y="28291"/>
                </a:lnTo>
                <a:cubicBezTo>
                  <a:pt x="86524" y="39029"/>
                  <a:pt x="70382" y="45199"/>
                  <a:pt x="53570" y="45845"/>
                </a:cubicBezTo>
                <a:lnTo>
                  <a:pt x="53570" y="7652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800346" y="5981648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Value-Focused Messaging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04637" y="6156569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Emphasize savings, quality per dollar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24763" y="6436332"/>
            <a:ext cx="5361331" cy="279874"/>
          </a:xfrm>
          <a:custGeom>
            <a:avLst/>
            <a:gdLst/>
            <a:ahLst/>
            <a:cxnLst/>
            <a:rect l="l" t="t" r="r" b="b"/>
            <a:pathLst>
              <a:path w="5361331" h="279874">
                <a:moveTo>
                  <a:pt x="69968" y="0"/>
                </a:moveTo>
                <a:lnTo>
                  <a:pt x="5291363" y="0"/>
                </a:lnTo>
                <a:cubicBezTo>
                  <a:pt x="5330005" y="0"/>
                  <a:pt x="5361331" y="31326"/>
                  <a:pt x="5361331" y="69968"/>
                </a:cubicBezTo>
                <a:lnTo>
                  <a:pt x="5361331" y="209905"/>
                </a:lnTo>
                <a:cubicBezTo>
                  <a:pt x="5361331" y="248548"/>
                  <a:pt x="5330005" y="279874"/>
                  <a:pt x="5291363" y="279874"/>
                </a:cubicBezTo>
                <a:lnTo>
                  <a:pt x="69968" y="279874"/>
                </a:lnTo>
                <a:cubicBezTo>
                  <a:pt x="31326" y="279874"/>
                  <a:pt x="0" y="248548"/>
                  <a:pt x="0" y="209905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FEE2E2"/>
          </a:solidFill>
          <a:ln/>
        </p:spPr>
      </p:sp>
      <p:sp>
        <p:nvSpPr>
          <p:cNvPr id="61" name="Text 59"/>
          <p:cNvSpPr/>
          <p:nvPr/>
        </p:nvSpPr>
        <p:spPr>
          <a:xfrm>
            <a:off x="568494" y="6506300"/>
            <a:ext cx="527387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Impact:</a:t>
            </a:r>
            <a:r>
              <a:rPr lang="en-US" sz="826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+30% response rate, +10% basket size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82477" y="4197671"/>
            <a:ext cx="5658697" cy="2658801"/>
          </a:xfrm>
          <a:custGeom>
            <a:avLst/>
            <a:gdLst/>
            <a:ahLst/>
            <a:cxnLst/>
            <a:rect l="l" t="t" r="r" b="b"/>
            <a:pathLst>
              <a:path w="5658697" h="2658801">
                <a:moveTo>
                  <a:pt x="34984" y="0"/>
                </a:moveTo>
                <a:lnTo>
                  <a:pt x="5553754" y="0"/>
                </a:lnTo>
                <a:cubicBezTo>
                  <a:pt x="5611713" y="0"/>
                  <a:pt x="5658697" y="46985"/>
                  <a:pt x="5658697" y="104943"/>
                </a:cubicBezTo>
                <a:lnTo>
                  <a:pt x="5658697" y="2553858"/>
                </a:lnTo>
                <a:cubicBezTo>
                  <a:pt x="5658697" y="2611816"/>
                  <a:pt x="5611713" y="2658801"/>
                  <a:pt x="5553754" y="2658801"/>
                </a:cubicBezTo>
                <a:lnTo>
                  <a:pt x="34984" y="2658801"/>
                </a:lnTo>
                <a:cubicBezTo>
                  <a:pt x="15663" y="2658801"/>
                  <a:pt x="0" y="2643138"/>
                  <a:pt x="0" y="262381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1191" dist="8746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82477" y="4197671"/>
            <a:ext cx="34984" cy="2658801"/>
          </a:xfrm>
          <a:custGeom>
            <a:avLst/>
            <a:gdLst/>
            <a:ahLst/>
            <a:cxnLst/>
            <a:rect l="l" t="t" r="r" b="b"/>
            <a:pathLst>
              <a:path w="34984" h="2658801">
                <a:moveTo>
                  <a:pt x="34984" y="0"/>
                </a:moveTo>
                <a:lnTo>
                  <a:pt x="34984" y="0"/>
                </a:lnTo>
                <a:lnTo>
                  <a:pt x="34984" y="2658801"/>
                </a:lnTo>
                <a:lnTo>
                  <a:pt x="34984" y="2658801"/>
                </a:lnTo>
                <a:cubicBezTo>
                  <a:pt x="15663" y="2658801"/>
                  <a:pt x="0" y="2643138"/>
                  <a:pt x="0" y="2623816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4" name="Shape 62"/>
          <p:cNvSpPr/>
          <p:nvPr/>
        </p:nvSpPr>
        <p:spPr>
          <a:xfrm>
            <a:off x="6339906" y="4337607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209905" y="0"/>
                </a:moveTo>
                <a:lnTo>
                  <a:pt x="209905" y="0"/>
                </a:lnTo>
                <a:cubicBezTo>
                  <a:pt x="325755" y="0"/>
                  <a:pt x="419811" y="94055"/>
                  <a:pt x="419811" y="209905"/>
                </a:cubicBezTo>
                <a:lnTo>
                  <a:pt x="419811" y="209905"/>
                </a:lnTo>
                <a:cubicBezTo>
                  <a:pt x="419811" y="325755"/>
                  <a:pt x="325755" y="419811"/>
                  <a:pt x="209905" y="419811"/>
                </a:cubicBezTo>
                <a:lnTo>
                  <a:pt x="209905" y="419811"/>
                </a:lnTo>
                <a:cubicBezTo>
                  <a:pt x="94055" y="419811"/>
                  <a:pt x="0" y="325755"/>
                  <a:pt x="0" y="209905"/>
                </a:cubicBezTo>
                <a:lnTo>
                  <a:pt x="0" y="209905"/>
                </a:lnTo>
                <a:cubicBezTo>
                  <a:pt x="0" y="94055"/>
                  <a:pt x="94055" y="0"/>
                  <a:pt x="209905" y="0"/>
                </a:cubicBez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65" name="Shape 63"/>
          <p:cNvSpPr/>
          <p:nvPr/>
        </p:nvSpPr>
        <p:spPr>
          <a:xfrm>
            <a:off x="6523573" y="4442560"/>
            <a:ext cx="52476" cy="209905"/>
          </a:xfrm>
          <a:custGeom>
            <a:avLst/>
            <a:gdLst/>
            <a:ahLst/>
            <a:cxnLst/>
            <a:rect l="l" t="t" r="r" b="b"/>
            <a:pathLst>
              <a:path w="52476" h="209905">
                <a:moveTo>
                  <a:pt x="39357" y="13119"/>
                </a:moveTo>
                <a:cubicBezTo>
                  <a:pt x="39357" y="5863"/>
                  <a:pt x="33495" y="0"/>
                  <a:pt x="26238" y="0"/>
                </a:cubicBezTo>
                <a:cubicBezTo>
                  <a:pt x="18982" y="0"/>
                  <a:pt x="13119" y="5863"/>
                  <a:pt x="13119" y="13119"/>
                </a:cubicBezTo>
                <a:lnTo>
                  <a:pt x="13119" y="144310"/>
                </a:lnTo>
                <a:cubicBezTo>
                  <a:pt x="13119" y="151566"/>
                  <a:pt x="18982" y="157429"/>
                  <a:pt x="26238" y="157429"/>
                </a:cubicBezTo>
                <a:cubicBezTo>
                  <a:pt x="33495" y="157429"/>
                  <a:pt x="39357" y="151566"/>
                  <a:pt x="39357" y="144310"/>
                </a:cubicBezTo>
                <a:lnTo>
                  <a:pt x="39357" y="13119"/>
                </a:lnTo>
                <a:close/>
                <a:moveTo>
                  <a:pt x="26238" y="209905"/>
                </a:moveTo>
                <a:cubicBezTo>
                  <a:pt x="35299" y="209905"/>
                  <a:pt x="42637" y="202567"/>
                  <a:pt x="42637" y="193506"/>
                </a:cubicBezTo>
                <a:cubicBezTo>
                  <a:pt x="42637" y="184446"/>
                  <a:pt x="35299" y="177108"/>
                  <a:pt x="26238" y="177108"/>
                </a:cubicBezTo>
                <a:cubicBezTo>
                  <a:pt x="17178" y="177108"/>
                  <a:pt x="9839" y="184446"/>
                  <a:pt x="9839" y="193506"/>
                </a:cubicBezTo>
                <a:cubicBezTo>
                  <a:pt x="9839" y="202567"/>
                  <a:pt x="17178" y="209905"/>
                  <a:pt x="26238" y="20990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6" name="Text 64"/>
          <p:cNvSpPr/>
          <p:nvPr/>
        </p:nvSpPr>
        <p:spPr>
          <a:xfrm>
            <a:off x="6864669" y="4425068"/>
            <a:ext cx="135563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At-Risk Strategy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39906" y="4862371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8" name="Shape 66"/>
          <p:cNvSpPr/>
          <p:nvPr/>
        </p:nvSpPr>
        <p:spPr>
          <a:xfrm>
            <a:off x="6435019" y="4960324"/>
            <a:ext cx="107139" cy="122445"/>
          </a:xfrm>
          <a:custGeom>
            <a:avLst/>
            <a:gdLst/>
            <a:ahLst/>
            <a:cxnLst/>
            <a:rect l="l" t="t" r="r" b="b"/>
            <a:pathLst>
              <a:path w="107139" h="122445">
                <a:moveTo>
                  <a:pt x="53570" y="0"/>
                </a:moveTo>
                <a:cubicBezTo>
                  <a:pt x="49337" y="0"/>
                  <a:pt x="45917" y="3420"/>
                  <a:pt x="45917" y="7653"/>
                </a:cubicBezTo>
                <a:lnTo>
                  <a:pt x="45917" y="8418"/>
                </a:lnTo>
                <a:cubicBezTo>
                  <a:pt x="28459" y="11957"/>
                  <a:pt x="15306" y="27407"/>
                  <a:pt x="15306" y="45917"/>
                </a:cubicBezTo>
                <a:lnTo>
                  <a:pt x="15306" y="51106"/>
                </a:lnTo>
                <a:cubicBezTo>
                  <a:pt x="15306" y="62609"/>
                  <a:pt x="11384" y="73778"/>
                  <a:pt x="4209" y="82770"/>
                </a:cubicBezTo>
                <a:lnTo>
                  <a:pt x="1865" y="85687"/>
                </a:lnTo>
                <a:cubicBezTo>
                  <a:pt x="646" y="87194"/>
                  <a:pt x="0" y="89059"/>
                  <a:pt x="0" y="90997"/>
                </a:cubicBezTo>
                <a:cubicBezTo>
                  <a:pt x="0" y="95684"/>
                  <a:pt x="3802" y="99486"/>
                  <a:pt x="8490" y="99486"/>
                </a:cubicBezTo>
                <a:lnTo>
                  <a:pt x="98625" y="99486"/>
                </a:lnTo>
                <a:cubicBezTo>
                  <a:pt x="103313" y="99486"/>
                  <a:pt x="107115" y="95684"/>
                  <a:pt x="107115" y="90997"/>
                </a:cubicBezTo>
                <a:cubicBezTo>
                  <a:pt x="107115" y="89059"/>
                  <a:pt x="106470" y="87194"/>
                  <a:pt x="105250" y="85687"/>
                </a:cubicBezTo>
                <a:lnTo>
                  <a:pt x="102906" y="82770"/>
                </a:lnTo>
                <a:cubicBezTo>
                  <a:pt x="95756" y="73778"/>
                  <a:pt x="91834" y="62609"/>
                  <a:pt x="91834" y="51106"/>
                </a:cubicBezTo>
                <a:lnTo>
                  <a:pt x="91834" y="45917"/>
                </a:lnTo>
                <a:cubicBezTo>
                  <a:pt x="91834" y="27407"/>
                  <a:pt x="78680" y="11957"/>
                  <a:pt x="61222" y="8418"/>
                </a:cubicBezTo>
                <a:lnTo>
                  <a:pt x="61222" y="7653"/>
                </a:lnTo>
                <a:cubicBezTo>
                  <a:pt x="61222" y="3420"/>
                  <a:pt x="57803" y="0"/>
                  <a:pt x="53570" y="0"/>
                </a:cubicBezTo>
                <a:close/>
                <a:moveTo>
                  <a:pt x="38742" y="110966"/>
                </a:moveTo>
                <a:cubicBezTo>
                  <a:pt x="40440" y="117566"/>
                  <a:pt x="46443" y="122445"/>
                  <a:pt x="53570" y="122445"/>
                </a:cubicBezTo>
                <a:cubicBezTo>
                  <a:pt x="60696" y="122445"/>
                  <a:pt x="66699" y="117566"/>
                  <a:pt x="68397" y="110966"/>
                </a:cubicBezTo>
                <a:lnTo>
                  <a:pt x="38742" y="11096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9" name="Text 67"/>
          <p:cNvSpPr/>
          <p:nvPr/>
        </p:nvSpPr>
        <p:spPr>
          <a:xfrm>
            <a:off x="6615488" y="4932339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URGENT Win-Back Campaigns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619779" y="5107260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"We Miss You" emails, special comeback offers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39906" y="5387023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2" name="Shape 70"/>
          <p:cNvSpPr/>
          <p:nvPr/>
        </p:nvSpPr>
        <p:spPr>
          <a:xfrm>
            <a:off x="6419713" y="5484980"/>
            <a:ext cx="137750" cy="122445"/>
          </a:xfrm>
          <a:custGeom>
            <a:avLst/>
            <a:gdLst/>
            <a:ahLst/>
            <a:cxnLst/>
            <a:rect l="l" t="t" r="r" b="b"/>
            <a:pathLst>
              <a:path w="137750" h="122445">
                <a:moveTo>
                  <a:pt x="0" y="30611"/>
                </a:moveTo>
                <a:cubicBezTo>
                  <a:pt x="0" y="22169"/>
                  <a:pt x="6864" y="15306"/>
                  <a:pt x="15306" y="15306"/>
                </a:cubicBezTo>
                <a:lnTo>
                  <a:pt x="122445" y="15306"/>
                </a:lnTo>
                <a:cubicBezTo>
                  <a:pt x="130887" y="15306"/>
                  <a:pt x="137750" y="22169"/>
                  <a:pt x="137750" y="30611"/>
                </a:cubicBezTo>
                <a:lnTo>
                  <a:pt x="137750" y="45917"/>
                </a:lnTo>
                <a:cubicBezTo>
                  <a:pt x="137750" y="48021"/>
                  <a:pt x="135981" y="49671"/>
                  <a:pt x="133996" y="50365"/>
                </a:cubicBezTo>
                <a:cubicBezTo>
                  <a:pt x="129500" y="51919"/>
                  <a:pt x="126271" y="56200"/>
                  <a:pt x="126271" y="61222"/>
                </a:cubicBezTo>
                <a:cubicBezTo>
                  <a:pt x="126271" y="66245"/>
                  <a:pt x="129500" y="70525"/>
                  <a:pt x="133996" y="72080"/>
                </a:cubicBezTo>
                <a:cubicBezTo>
                  <a:pt x="135981" y="72773"/>
                  <a:pt x="137750" y="74423"/>
                  <a:pt x="137750" y="76528"/>
                </a:cubicBezTo>
                <a:lnTo>
                  <a:pt x="137750" y="91834"/>
                </a:lnTo>
                <a:cubicBezTo>
                  <a:pt x="137750" y="100276"/>
                  <a:pt x="130887" y="107139"/>
                  <a:pt x="122445" y="107139"/>
                </a:cubicBezTo>
                <a:lnTo>
                  <a:pt x="15306" y="107139"/>
                </a:lnTo>
                <a:cubicBezTo>
                  <a:pt x="6864" y="107139"/>
                  <a:pt x="0" y="100276"/>
                  <a:pt x="0" y="91834"/>
                </a:cubicBezTo>
                <a:lnTo>
                  <a:pt x="0" y="76528"/>
                </a:lnTo>
                <a:cubicBezTo>
                  <a:pt x="0" y="74423"/>
                  <a:pt x="1770" y="72773"/>
                  <a:pt x="3755" y="72080"/>
                </a:cubicBezTo>
                <a:cubicBezTo>
                  <a:pt x="8251" y="70525"/>
                  <a:pt x="11479" y="66245"/>
                  <a:pt x="11479" y="61222"/>
                </a:cubicBezTo>
                <a:cubicBezTo>
                  <a:pt x="11479" y="56200"/>
                  <a:pt x="8251" y="51919"/>
                  <a:pt x="3755" y="50365"/>
                </a:cubicBezTo>
                <a:cubicBezTo>
                  <a:pt x="1770" y="49671"/>
                  <a:pt x="0" y="48021"/>
                  <a:pt x="0" y="45917"/>
                </a:cubicBezTo>
                <a:lnTo>
                  <a:pt x="0" y="3061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6615488" y="5456991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High-Value Coupons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619779" y="5631912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discounts to re-engage (20-30% off)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39906" y="5911679"/>
            <a:ext cx="5361331" cy="454795"/>
          </a:xfrm>
          <a:custGeom>
            <a:avLst/>
            <a:gdLst/>
            <a:ahLst/>
            <a:cxnLst/>
            <a:rect l="l" t="t" r="r" b="b"/>
            <a:pathLst>
              <a:path w="5361331" h="454795">
                <a:moveTo>
                  <a:pt x="69970" y="0"/>
                </a:moveTo>
                <a:lnTo>
                  <a:pt x="5291361" y="0"/>
                </a:lnTo>
                <a:cubicBezTo>
                  <a:pt x="5330005" y="0"/>
                  <a:pt x="5361331" y="31327"/>
                  <a:pt x="5361331" y="69970"/>
                </a:cubicBezTo>
                <a:lnTo>
                  <a:pt x="5361331" y="384825"/>
                </a:lnTo>
                <a:cubicBezTo>
                  <a:pt x="5361331" y="423468"/>
                  <a:pt x="5330005" y="454795"/>
                  <a:pt x="5291361" y="454795"/>
                </a:cubicBezTo>
                <a:lnTo>
                  <a:pt x="69970" y="454795"/>
                </a:lnTo>
                <a:cubicBezTo>
                  <a:pt x="31327" y="454795"/>
                  <a:pt x="0" y="423468"/>
                  <a:pt x="0" y="384825"/>
                </a:cubicBezTo>
                <a:lnTo>
                  <a:pt x="0" y="69970"/>
                </a:lnTo>
                <a:cubicBezTo>
                  <a:pt x="0" y="31353"/>
                  <a:pt x="31353" y="0"/>
                  <a:pt x="69970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6" name="Shape 74"/>
          <p:cNvSpPr/>
          <p:nvPr/>
        </p:nvSpPr>
        <p:spPr>
          <a:xfrm>
            <a:off x="6427366" y="6009633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38312" y="5979"/>
                </a:moveTo>
                <a:cubicBezTo>
                  <a:pt x="36423" y="1459"/>
                  <a:pt x="31496" y="-933"/>
                  <a:pt x="26809" y="335"/>
                </a:cubicBezTo>
                <a:lnTo>
                  <a:pt x="25493" y="694"/>
                </a:lnTo>
                <a:cubicBezTo>
                  <a:pt x="10044" y="4903"/>
                  <a:pt x="-3157" y="19873"/>
                  <a:pt x="694" y="38097"/>
                </a:cubicBezTo>
                <a:cubicBezTo>
                  <a:pt x="9566" y="79948"/>
                  <a:pt x="42497" y="112879"/>
                  <a:pt x="84348" y="121751"/>
                </a:cubicBezTo>
                <a:cubicBezTo>
                  <a:pt x="102595" y="125625"/>
                  <a:pt x="117542" y="112400"/>
                  <a:pt x="121751" y="96951"/>
                </a:cubicBezTo>
                <a:lnTo>
                  <a:pt x="122110" y="95636"/>
                </a:lnTo>
                <a:cubicBezTo>
                  <a:pt x="123401" y="90925"/>
                  <a:pt x="120986" y="85998"/>
                  <a:pt x="116490" y="84133"/>
                </a:cubicBezTo>
                <a:lnTo>
                  <a:pt x="93221" y="74447"/>
                </a:lnTo>
                <a:cubicBezTo>
                  <a:pt x="89275" y="72797"/>
                  <a:pt x="84707" y="73945"/>
                  <a:pt x="81981" y="77269"/>
                </a:cubicBezTo>
                <a:lnTo>
                  <a:pt x="72749" y="88557"/>
                </a:lnTo>
                <a:cubicBezTo>
                  <a:pt x="55937" y="80211"/>
                  <a:pt x="42401" y="66245"/>
                  <a:pt x="34629" y="49097"/>
                </a:cubicBezTo>
                <a:lnTo>
                  <a:pt x="45199" y="40488"/>
                </a:lnTo>
                <a:cubicBezTo>
                  <a:pt x="48524" y="37786"/>
                  <a:pt x="49648" y="33218"/>
                  <a:pt x="48021" y="29248"/>
                </a:cubicBezTo>
                <a:lnTo>
                  <a:pt x="38312" y="5979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77" name="Text 75"/>
          <p:cNvSpPr/>
          <p:nvPr/>
        </p:nvSpPr>
        <p:spPr>
          <a:xfrm>
            <a:off x="6615488" y="5981648"/>
            <a:ext cx="5077003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Outreach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619779" y="6156569"/>
            <a:ext cx="50639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Phone calls, personalized emails from account managers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39906" y="6436332"/>
            <a:ext cx="5361331" cy="279874"/>
          </a:xfrm>
          <a:custGeom>
            <a:avLst/>
            <a:gdLst/>
            <a:ahLst/>
            <a:cxnLst/>
            <a:rect l="l" t="t" r="r" b="b"/>
            <a:pathLst>
              <a:path w="5361331" h="279874">
                <a:moveTo>
                  <a:pt x="69968" y="0"/>
                </a:moveTo>
                <a:lnTo>
                  <a:pt x="5291363" y="0"/>
                </a:lnTo>
                <a:cubicBezTo>
                  <a:pt x="5330005" y="0"/>
                  <a:pt x="5361331" y="31326"/>
                  <a:pt x="5361331" y="69968"/>
                </a:cubicBezTo>
                <a:lnTo>
                  <a:pt x="5361331" y="209905"/>
                </a:lnTo>
                <a:cubicBezTo>
                  <a:pt x="5361331" y="248548"/>
                  <a:pt x="5330005" y="279874"/>
                  <a:pt x="5291363" y="279874"/>
                </a:cubicBezTo>
                <a:lnTo>
                  <a:pt x="69968" y="279874"/>
                </a:lnTo>
                <a:cubicBezTo>
                  <a:pt x="31326" y="279874"/>
                  <a:pt x="0" y="248548"/>
                  <a:pt x="0" y="209905"/>
                </a:cubicBezTo>
                <a:lnTo>
                  <a:pt x="0" y="69968"/>
                </a:lnTo>
                <a:cubicBezTo>
                  <a:pt x="0" y="31352"/>
                  <a:pt x="31352" y="0"/>
                  <a:pt x="69968" y="0"/>
                </a:cubicBezTo>
                <a:close/>
              </a:path>
            </a:pathLst>
          </a:custGeom>
          <a:solidFill>
            <a:srgbClr val="FEF3C7"/>
          </a:solidFill>
          <a:ln/>
        </p:spPr>
      </p:sp>
      <p:sp>
        <p:nvSpPr>
          <p:cNvPr id="80" name="Text 78"/>
          <p:cNvSpPr/>
          <p:nvPr/>
        </p:nvSpPr>
        <p:spPr>
          <a:xfrm>
            <a:off x="6383636" y="6506300"/>
            <a:ext cx="527387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2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Impact:</a:t>
            </a:r>
            <a:r>
              <a:rPr lang="en-US" sz="826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+15% reactivation, prevent churn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5600700" cy="4267200"/>
          </a:xfrm>
          <a:custGeom>
            <a:avLst/>
            <a:gdLst/>
            <a:ahLst/>
            <a:cxnLst/>
            <a:rect l="l" t="t" r="r" b="b"/>
            <a:pathLst>
              <a:path w="5600700" h="4267200">
                <a:moveTo>
                  <a:pt x="152382" y="0"/>
                </a:moveTo>
                <a:lnTo>
                  <a:pt x="5448318" y="0"/>
                </a:lnTo>
                <a:cubicBezTo>
                  <a:pt x="5532420" y="0"/>
                  <a:pt x="5600700" y="68280"/>
                  <a:pt x="5600700" y="152382"/>
                </a:cubicBezTo>
                <a:lnTo>
                  <a:pt x="5600700" y="4114818"/>
                </a:lnTo>
                <a:cubicBezTo>
                  <a:pt x="5600700" y="4198920"/>
                  <a:pt x="5532420" y="4267200"/>
                  <a:pt x="5448318" y="4267200"/>
                </a:cubicBezTo>
                <a:lnTo>
                  <a:pt x="152382" y="4267200"/>
                </a:lnTo>
                <a:cubicBezTo>
                  <a:pt x="68280" y="4267200"/>
                  <a:pt x="0" y="4198920"/>
                  <a:pt x="0" y="411481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38175" y="15163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4859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19429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1942979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" y="1942979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8700" y="2171579"/>
            <a:ext cx="4791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segmented 2,236 customers into 4 actionable personas using K-Means clustering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7049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2704979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8700" y="2704979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8700" y="2933579"/>
            <a:ext cx="4791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model achieves 86.6% accuracy in predicting campaign response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34669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" y="3466979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8700" y="3466979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8700" y="3695579"/>
            <a:ext cx="4791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application enables instant customer intelligence and actionable insights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22897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71500" y="4228979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8700" y="4228979"/>
            <a:ext cx="448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8700" y="4457579"/>
            <a:ext cx="447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338% ROI improvement with AI-powered targeting vs traditional campaigns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257300"/>
            <a:ext cx="5600700" cy="4267200"/>
          </a:xfrm>
          <a:custGeom>
            <a:avLst/>
            <a:gdLst/>
            <a:ahLst/>
            <a:cxnLst/>
            <a:rect l="l" t="t" r="r" b="b"/>
            <a:pathLst>
              <a:path w="5600700" h="4267200">
                <a:moveTo>
                  <a:pt x="152382" y="0"/>
                </a:moveTo>
                <a:lnTo>
                  <a:pt x="5448318" y="0"/>
                </a:lnTo>
                <a:cubicBezTo>
                  <a:pt x="5532420" y="0"/>
                  <a:pt x="5600700" y="68280"/>
                  <a:pt x="5600700" y="152382"/>
                </a:cubicBezTo>
                <a:lnTo>
                  <a:pt x="5600700" y="4114818"/>
                </a:lnTo>
                <a:cubicBezTo>
                  <a:pt x="5600700" y="4198920"/>
                  <a:pt x="5532420" y="4267200"/>
                  <a:pt x="5448318" y="4267200"/>
                </a:cubicBezTo>
                <a:lnTo>
                  <a:pt x="152382" y="4267200"/>
                </a:lnTo>
                <a:cubicBezTo>
                  <a:pt x="68280" y="4267200"/>
                  <a:pt x="0" y="4198920"/>
                  <a:pt x="0" y="4114818"/>
                </a:cubicBezTo>
                <a:lnTo>
                  <a:pt x="0" y="152382"/>
                </a:lnTo>
                <a:cubicBezTo>
                  <a:pt x="0" y="68280"/>
                  <a:pt x="68280" y="0"/>
                  <a:pt x="15238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67475" y="15163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6781800" y="14859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8425" y="198107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743700" y="1942979"/>
            <a:ext cx="418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RFM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43700" y="2171579"/>
            <a:ext cx="417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Incorporate Recency, Frequency, Monetary scoring for deeper insights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57950" y="25525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743700" y="2514479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43700" y="2743079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neural networks for complex pattern recognition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7950" y="31240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8575"/>
                </a:moveTo>
                <a:cubicBezTo>
                  <a:pt x="0" y="23306"/>
                  <a:pt x="4256" y="19050"/>
                  <a:pt x="9525" y="19050"/>
                </a:cubicBezTo>
                <a:lnTo>
                  <a:pt x="123825" y="19050"/>
                </a:lnTo>
                <a:cubicBezTo>
                  <a:pt x="129094" y="19050"/>
                  <a:pt x="133350" y="23306"/>
                  <a:pt x="133350" y="28575"/>
                </a:cubicBezTo>
                <a:cubicBezTo>
                  <a:pt x="133350" y="33844"/>
                  <a:pt x="129094" y="38100"/>
                  <a:pt x="123825" y="38100"/>
                </a:cubicBezTo>
                <a:lnTo>
                  <a:pt x="9525" y="38100"/>
                </a:lnTo>
                <a:cubicBezTo>
                  <a:pt x="4256" y="38100"/>
                  <a:pt x="0" y="33844"/>
                  <a:pt x="0" y="28575"/>
                </a:cubicBezTo>
                <a:close/>
                <a:moveTo>
                  <a:pt x="19050" y="76200"/>
                </a:moveTo>
                <a:cubicBezTo>
                  <a:pt x="19050" y="70931"/>
                  <a:pt x="23306" y="66675"/>
                  <a:pt x="2857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28575" y="85725"/>
                </a:lnTo>
                <a:cubicBezTo>
                  <a:pt x="23306" y="85725"/>
                  <a:pt x="19050" y="81469"/>
                  <a:pt x="19050" y="76200"/>
                </a:cubicBezTo>
                <a:close/>
                <a:moveTo>
                  <a:pt x="133350" y="123825"/>
                </a:moveTo>
                <a:cubicBezTo>
                  <a:pt x="133350" y="129094"/>
                  <a:pt x="129094" y="133350"/>
                  <a:pt x="123825" y="133350"/>
                </a:cubicBezTo>
                <a:lnTo>
                  <a:pt x="9525" y="133350"/>
                </a:lnTo>
                <a:cubicBezTo>
                  <a:pt x="4256" y="133350"/>
                  <a:pt x="0" y="129094"/>
                  <a:pt x="0" y="123825"/>
                </a:cubicBezTo>
                <a:cubicBezTo>
                  <a:pt x="0" y="118556"/>
                  <a:pt x="4256" y="114300"/>
                  <a:pt x="9525" y="114300"/>
                </a:cubicBezTo>
                <a:lnTo>
                  <a:pt x="123825" y="114300"/>
                </a:lnTo>
                <a:cubicBezTo>
                  <a:pt x="129094" y="114300"/>
                  <a:pt x="133350" y="118556"/>
                  <a:pt x="133350" y="12382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743700" y="308597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Streaming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43700" y="3314579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live data ingestion for dynamic customer scoring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38900" y="369557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743700" y="3657479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Triggers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43700" y="3886079"/>
            <a:ext cx="3848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 automated campaign triggers based on behavior patterns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8425" y="426707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743700" y="4228979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Multi-Channel Attribution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43700" y="4457579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to track customer journey across all touchpoints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1237</Words>
  <Application>Microsoft Office PowerPoint</Application>
  <PresentationFormat>Widescreen</PresentationFormat>
  <Paragraphs>314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微软雅黑</vt:lpstr>
      <vt:lpstr>Liter</vt:lpstr>
      <vt:lpstr>MiSans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Personality Analysis: AI-Powered Market Segmentation</dc:title>
  <dc:subject>Customer Personality Analysis: AI-Powered Market Segmentation</dc:subject>
  <dc:creator>Kimi</dc:creator>
  <cp:lastModifiedBy>Rakshita Gajendragad</cp:lastModifiedBy>
  <cp:revision>3</cp:revision>
  <dcterms:created xsi:type="dcterms:W3CDTF">2026-02-14T11:45:58Z</dcterms:created>
  <dcterms:modified xsi:type="dcterms:W3CDTF">2026-02-20T10:57:14Z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{"Label":"Customer Personality Analysis: AI-Powered Market Segmentation","ContentProducer":"001191110108MACG2KBH8F10000","ProduceID":"19c5be14-4db2-8fdd-8000-00009deb65d6","ReservedCode1":"","ContentPropagator":"001191110108MACG2KBH8F20000","PropagateID":"19c5be14-4db2-8fdd-8000-00009deb65d6","ReservedCode2":""}</vt:lpwstr>
  </property>
</Properties>
</file>